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40"/>
  </p:notesMasterIdLst>
  <p:handoutMasterIdLst>
    <p:handoutMasterId r:id="rId41"/>
  </p:handoutMasterIdLst>
  <p:sldIdLst>
    <p:sldId id="256" r:id="rId2"/>
    <p:sldId id="681" r:id="rId3"/>
    <p:sldId id="682" r:id="rId4"/>
    <p:sldId id="683" r:id="rId5"/>
    <p:sldId id="684" r:id="rId6"/>
    <p:sldId id="685" r:id="rId7"/>
    <p:sldId id="686" r:id="rId8"/>
    <p:sldId id="687" r:id="rId9"/>
    <p:sldId id="688" r:id="rId10"/>
    <p:sldId id="689" r:id="rId11"/>
    <p:sldId id="690" r:id="rId12"/>
    <p:sldId id="691" r:id="rId13"/>
    <p:sldId id="692" r:id="rId14"/>
    <p:sldId id="693" r:id="rId15"/>
    <p:sldId id="694" r:id="rId16"/>
    <p:sldId id="695" r:id="rId17"/>
    <p:sldId id="696" r:id="rId18"/>
    <p:sldId id="697" r:id="rId19"/>
    <p:sldId id="631" r:id="rId20"/>
    <p:sldId id="632" r:id="rId21"/>
    <p:sldId id="647" r:id="rId22"/>
    <p:sldId id="657" r:id="rId23"/>
    <p:sldId id="698" r:id="rId24"/>
    <p:sldId id="699" r:id="rId25"/>
    <p:sldId id="700" r:id="rId26"/>
    <p:sldId id="701" r:id="rId27"/>
    <p:sldId id="702" r:id="rId28"/>
    <p:sldId id="703" r:id="rId29"/>
    <p:sldId id="704" r:id="rId30"/>
    <p:sldId id="705" r:id="rId31"/>
    <p:sldId id="706" r:id="rId32"/>
    <p:sldId id="707" r:id="rId33"/>
    <p:sldId id="708" r:id="rId34"/>
    <p:sldId id="709" r:id="rId35"/>
    <p:sldId id="710" r:id="rId36"/>
    <p:sldId id="711" r:id="rId37"/>
    <p:sldId id="712" r:id="rId38"/>
    <p:sldId id="713" r:id="rId39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rnd Karstens" initials="BK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CFF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26" y="5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5258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05" tIns="49501" rIns="99005" bIns="49501" numCol="1" anchor="t" anchorCtr="0" compatLnSpc="1">
            <a:prstTxWarp prst="textNoShape">
              <a:avLst/>
            </a:prstTxWarp>
          </a:bodyPr>
          <a:lstStyle>
            <a:lvl1pPr defTabSz="990423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043" y="1"/>
            <a:ext cx="3075258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05" tIns="49501" rIns="99005" bIns="49501" numCol="1" anchor="t" anchorCtr="0" compatLnSpc="1">
            <a:prstTxWarp prst="textNoShape">
              <a:avLst/>
            </a:prstTxWarp>
          </a:bodyPr>
          <a:lstStyle>
            <a:lvl1pPr algn="r" defTabSz="990423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882"/>
            <a:ext cx="3075258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05" tIns="49501" rIns="99005" bIns="49501" numCol="1" anchor="b" anchorCtr="0" compatLnSpc="1">
            <a:prstTxWarp prst="textNoShape">
              <a:avLst/>
            </a:prstTxWarp>
          </a:bodyPr>
          <a:lstStyle>
            <a:lvl1pPr defTabSz="990423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043" y="9722882"/>
            <a:ext cx="3075258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05" tIns="49501" rIns="99005" bIns="49501" numCol="1" anchor="b" anchorCtr="0" compatLnSpc="1">
            <a:prstTxWarp prst="textNoShape">
              <a:avLst/>
            </a:prstTxWarp>
          </a:bodyPr>
          <a:lstStyle>
            <a:lvl1pPr algn="r" defTabSz="990423">
              <a:defRPr sz="1200"/>
            </a:lvl1pPr>
          </a:lstStyle>
          <a:p>
            <a:pPr>
              <a:defRPr/>
            </a:pPr>
            <a:fld id="{F800C5DA-E918-4121-A59A-E817030A7E0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8106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5258" cy="5117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05" tIns="49501" rIns="99005" bIns="49501" numCol="1" anchor="t" anchorCtr="0" compatLnSpc="1">
            <a:prstTxWarp prst="textNoShape">
              <a:avLst/>
            </a:prstTxWarp>
          </a:bodyPr>
          <a:lstStyle>
            <a:lvl1pPr defTabSz="99042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043" y="1"/>
            <a:ext cx="3075258" cy="5117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05" tIns="49501" rIns="99005" bIns="49501" numCol="1" anchor="t" anchorCtr="0" compatLnSpc="1">
            <a:prstTxWarp prst="textNoShape">
              <a:avLst/>
            </a:prstTxWarp>
          </a:bodyPr>
          <a:lstStyle>
            <a:lvl1pPr algn="r" defTabSz="99042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5469" y="4861442"/>
            <a:ext cx="5208365" cy="460557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05" tIns="49501" rIns="99005" bIns="495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Klicken Sie, um die Formate des Vorlagentextes zu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2882"/>
            <a:ext cx="3075258" cy="5117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05" tIns="49501" rIns="99005" bIns="49501" numCol="1" anchor="b" anchorCtr="0" compatLnSpc="1">
            <a:prstTxWarp prst="textNoShape">
              <a:avLst/>
            </a:prstTxWarp>
          </a:bodyPr>
          <a:lstStyle>
            <a:lvl1pPr defTabSz="99042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043" y="9722882"/>
            <a:ext cx="3075258" cy="5117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05" tIns="49501" rIns="99005" bIns="49501" numCol="1" anchor="b" anchorCtr="0" compatLnSpc="1">
            <a:prstTxWarp prst="textNoShape">
              <a:avLst/>
            </a:prstTxWarp>
          </a:bodyPr>
          <a:lstStyle>
            <a:lvl1pPr algn="r" defTabSz="990423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D549842-4C11-4546-B057-70FB9BBD860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2284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310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3373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6390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8887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054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705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173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075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2471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672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601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201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701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700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7775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010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01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349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703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814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49842-4C11-4546-B057-70FB9BBD8607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250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088CF-AA25-41F1-B8ED-25A237DDC7CA}" type="slidenum">
              <a:rPr lang="de-DE" smtClean="0"/>
              <a:pPr/>
              <a:t>34</a:t>
            </a:fld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1608641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088CF-AA25-41F1-B8ED-25A237DDC7CA}" type="slidenum">
              <a:rPr lang="de-DE" smtClean="0"/>
              <a:pPr/>
              <a:t>35</a:t>
            </a:fld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13803578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088CF-AA25-41F1-B8ED-25A237DDC7CA}" type="slidenum">
              <a:rPr lang="de-DE" smtClean="0"/>
              <a:pPr/>
              <a:t>36</a:t>
            </a:fld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13407136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088CF-AA25-41F1-B8ED-25A237DDC7CA}" type="slidenum">
              <a:rPr lang="de-DE" smtClean="0"/>
              <a:pPr/>
              <a:t>37</a:t>
            </a:fld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705852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088CF-AA25-41F1-B8ED-25A237DDC7CA}" type="slidenum">
              <a:rPr lang="de-DE" smtClean="0"/>
              <a:pPr/>
              <a:t>38</a:t>
            </a:fld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56091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117475"/>
            <a:ext cx="9142413" cy="6738938"/>
            <a:chOff x="0" y="74"/>
            <a:chExt cx="5759" cy="4245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invGray">
            <a:xfrm>
              <a:off x="432" y="4113"/>
              <a:ext cx="2208" cy="206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invGray">
            <a:xfrm>
              <a:off x="432" y="1536"/>
              <a:ext cx="5327" cy="480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invGray">
            <a:xfrm>
              <a:off x="555" y="74"/>
              <a:ext cx="42" cy="42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invGray">
            <a:xfrm>
              <a:off x="555" y="219"/>
              <a:ext cx="42" cy="41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invGray">
            <a:xfrm>
              <a:off x="555" y="362"/>
              <a:ext cx="42" cy="41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invGray">
            <a:xfrm>
              <a:off x="555" y="651"/>
              <a:ext cx="42" cy="41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invGray">
            <a:xfrm>
              <a:off x="555" y="794"/>
              <a:ext cx="42" cy="42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invGray">
            <a:xfrm>
              <a:off x="555" y="939"/>
              <a:ext cx="42" cy="41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3" name="Oval 11"/>
            <p:cNvSpPr>
              <a:spLocks noChangeArrowheads="1"/>
            </p:cNvSpPr>
            <p:nvPr/>
          </p:nvSpPr>
          <p:spPr bwMode="invGray">
            <a:xfrm>
              <a:off x="555" y="1082"/>
              <a:ext cx="42" cy="41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4" name="Oval 12"/>
            <p:cNvSpPr>
              <a:spLocks noChangeArrowheads="1"/>
            </p:cNvSpPr>
            <p:nvPr/>
          </p:nvSpPr>
          <p:spPr bwMode="invGray">
            <a:xfrm>
              <a:off x="555" y="1227"/>
              <a:ext cx="42" cy="4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invGray">
            <a:xfrm>
              <a:off x="555" y="1371"/>
              <a:ext cx="42" cy="41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grpSp>
          <p:nvGrpSpPr>
            <p:cNvPr id="16" name="Group 14"/>
            <p:cNvGrpSpPr>
              <a:grpSpLocks/>
            </p:cNvGrpSpPr>
            <p:nvPr/>
          </p:nvGrpSpPr>
          <p:grpSpPr bwMode="auto">
            <a:xfrm>
              <a:off x="2859" y="4202"/>
              <a:ext cx="2729" cy="41"/>
              <a:chOff x="2859" y="4202"/>
              <a:chExt cx="2729" cy="41"/>
            </a:xfrm>
          </p:grpSpPr>
          <p:sp>
            <p:nvSpPr>
              <p:cNvPr id="22" name="Oval 15"/>
              <p:cNvSpPr>
                <a:spLocks noChangeArrowheads="1"/>
              </p:cNvSpPr>
              <p:nvPr/>
            </p:nvSpPr>
            <p:spPr bwMode="invGray">
              <a:xfrm>
                <a:off x="2859" y="4202"/>
                <a:ext cx="42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3" name="Oval 16"/>
              <p:cNvSpPr>
                <a:spLocks noChangeArrowheads="1"/>
              </p:cNvSpPr>
              <p:nvPr/>
            </p:nvSpPr>
            <p:spPr bwMode="invGray">
              <a:xfrm>
                <a:off x="3243" y="4202"/>
                <a:ext cx="42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4" name="Oval 17"/>
              <p:cNvSpPr>
                <a:spLocks noChangeArrowheads="1"/>
              </p:cNvSpPr>
              <p:nvPr/>
            </p:nvSpPr>
            <p:spPr bwMode="invGray">
              <a:xfrm>
                <a:off x="3627" y="4202"/>
                <a:ext cx="41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5" name="Oval 18"/>
              <p:cNvSpPr>
                <a:spLocks noChangeArrowheads="1"/>
              </p:cNvSpPr>
              <p:nvPr/>
            </p:nvSpPr>
            <p:spPr bwMode="invGray">
              <a:xfrm>
                <a:off x="4011" y="4202"/>
                <a:ext cx="41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6" name="Oval 19"/>
              <p:cNvSpPr>
                <a:spLocks noChangeArrowheads="1"/>
              </p:cNvSpPr>
              <p:nvPr/>
            </p:nvSpPr>
            <p:spPr bwMode="invGray">
              <a:xfrm>
                <a:off x="4395" y="4202"/>
                <a:ext cx="42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7" name="Oval 20"/>
              <p:cNvSpPr>
                <a:spLocks noChangeArrowheads="1"/>
              </p:cNvSpPr>
              <p:nvPr/>
            </p:nvSpPr>
            <p:spPr bwMode="invGray">
              <a:xfrm>
                <a:off x="4779" y="4202"/>
                <a:ext cx="42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8" name="Oval 21"/>
              <p:cNvSpPr>
                <a:spLocks noChangeArrowheads="1"/>
              </p:cNvSpPr>
              <p:nvPr/>
            </p:nvSpPr>
            <p:spPr bwMode="invGray">
              <a:xfrm>
                <a:off x="5163" y="4202"/>
                <a:ext cx="42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9" name="Oval 22"/>
              <p:cNvSpPr>
                <a:spLocks noChangeArrowheads="1"/>
              </p:cNvSpPr>
              <p:nvPr/>
            </p:nvSpPr>
            <p:spPr bwMode="invGray">
              <a:xfrm>
                <a:off x="5547" y="4202"/>
                <a:ext cx="41" cy="41"/>
              </a:xfrm>
              <a:prstGeom prst="ellipse">
                <a:avLst/>
              </a:pr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</p:grpSp>
        <p:sp>
          <p:nvSpPr>
            <p:cNvPr id="17" name="Oval 23"/>
            <p:cNvSpPr>
              <a:spLocks noChangeArrowheads="1"/>
            </p:cNvSpPr>
            <p:nvPr/>
          </p:nvSpPr>
          <p:spPr bwMode="invGray">
            <a:xfrm>
              <a:off x="555" y="507"/>
              <a:ext cx="42" cy="4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grpSp>
          <p:nvGrpSpPr>
            <p:cNvPr id="18" name="Group 24"/>
            <p:cNvGrpSpPr>
              <a:grpSpLocks/>
            </p:cNvGrpSpPr>
            <p:nvPr/>
          </p:nvGrpSpPr>
          <p:grpSpPr bwMode="auto">
            <a:xfrm>
              <a:off x="0" y="2327"/>
              <a:ext cx="1203" cy="1203"/>
              <a:chOff x="0" y="2327"/>
              <a:chExt cx="1203" cy="1203"/>
            </a:xfrm>
          </p:grpSpPr>
          <p:sp>
            <p:nvSpPr>
              <p:cNvPr id="19" name="Freeform 25"/>
              <p:cNvSpPr>
                <a:spLocks/>
              </p:cNvSpPr>
              <p:nvPr/>
            </p:nvSpPr>
            <p:spPr bwMode="invGray">
              <a:xfrm>
                <a:off x="0" y="2394"/>
                <a:ext cx="443" cy="1033"/>
              </a:xfrm>
              <a:custGeom>
                <a:avLst/>
                <a:gdLst/>
                <a:ahLst/>
                <a:cxnLst>
                  <a:cxn ang="0">
                    <a:pos x="290" y="1016"/>
                  </a:cxn>
                  <a:cxn ang="0">
                    <a:pos x="316" y="974"/>
                  </a:cxn>
                  <a:cxn ang="0">
                    <a:pos x="354" y="920"/>
                  </a:cxn>
                  <a:cxn ang="0">
                    <a:pos x="384" y="884"/>
                  </a:cxn>
                  <a:cxn ang="0">
                    <a:pos x="381" y="832"/>
                  </a:cxn>
                  <a:cxn ang="0">
                    <a:pos x="370" y="794"/>
                  </a:cxn>
                  <a:cxn ang="0">
                    <a:pos x="361" y="760"/>
                  </a:cxn>
                  <a:cxn ang="0">
                    <a:pos x="361" y="734"/>
                  </a:cxn>
                  <a:cxn ang="0">
                    <a:pos x="359" y="707"/>
                  </a:cxn>
                  <a:cxn ang="0">
                    <a:pos x="373" y="691"/>
                  </a:cxn>
                  <a:cxn ang="0">
                    <a:pos x="391" y="686"/>
                  </a:cxn>
                  <a:cxn ang="0">
                    <a:pos x="395" y="680"/>
                  </a:cxn>
                  <a:cxn ang="0">
                    <a:pos x="390" y="671"/>
                  </a:cxn>
                  <a:cxn ang="0">
                    <a:pos x="386" y="660"/>
                  </a:cxn>
                  <a:cxn ang="0">
                    <a:pos x="437" y="635"/>
                  </a:cxn>
                  <a:cxn ang="0">
                    <a:pos x="442" y="619"/>
                  </a:cxn>
                  <a:cxn ang="0">
                    <a:pos x="438" y="604"/>
                  </a:cxn>
                  <a:cxn ang="0">
                    <a:pos x="400" y="543"/>
                  </a:cxn>
                  <a:cxn ang="0">
                    <a:pos x="384" y="474"/>
                  </a:cxn>
                  <a:cxn ang="0">
                    <a:pos x="354" y="455"/>
                  </a:cxn>
                  <a:cxn ang="0">
                    <a:pos x="326" y="433"/>
                  </a:cxn>
                  <a:cxn ang="0">
                    <a:pos x="312" y="411"/>
                  </a:cxn>
                  <a:cxn ang="0">
                    <a:pos x="307" y="391"/>
                  </a:cxn>
                  <a:cxn ang="0">
                    <a:pos x="290" y="339"/>
                  </a:cxn>
                  <a:cxn ang="0">
                    <a:pos x="308" y="289"/>
                  </a:cxn>
                  <a:cxn ang="0">
                    <a:pos x="298" y="278"/>
                  </a:cxn>
                  <a:cxn ang="0">
                    <a:pos x="280" y="307"/>
                  </a:cxn>
                  <a:cxn ang="0">
                    <a:pos x="269" y="283"/>
                  </a:cxn>
                  <a:cxn ang="0">
                    <a:pos x="272" y="224"/>
                  </a:cxn>
                  <a:cxn ang="0">
                    <a:pos x="280" y="177"/>
                  </a:cxn>
                  <a:cxn ang="0">
                    <a:pos x="280" y="146"/>
                  </a:cxn>
                  <a:cxn ang="0">
                    <a:pos x="281" y="123"/>
                  </a:cxn>
                  <a:cxn ang="0">
                    <a:pos x="290" y="104"/>
                  </a:cxn>
                  <a:cxn ang="0">
                    <a:pos x="296" y="97"/>
                  </a:cxn>
                  <a:cxn ang="0">
                    <a:pos x="298" y="94"/>
                  </a:cxn>
                  <a:cxn ang="0">
                    <a:pos x="301" y="92"/>
                  </a:cxn>
                  <a:cxn ang="0">
                    <a:pos x="307" y="83"/>
                  </a:cxn>
                  <a:cxn ang="0">
                    <a:pos x="317" y="79"/>
                  </a:cxn>
                  <a:cxn ang="0">
                    <a:pos x="328" y="77"/>
                  </a:cxn>
                  <a:cxn ang="0">
                    <a:pos x="337" y="74"/>
                  </a:cxn>
                  <a:cxn ang="0">
                    <a:pos x="345" y="67"/>
                  </a:cxn>
                  <a:cxn ang="0">
                    <a:pos x="337" y="50"/>
                  </a:cxn>
                  <a:cxn ang="0">
                    <a:pos x="337" y="47"/>
                  </a:cxn>
                  <a:cxn ang="0">
                    <a:pos x="337" y="43"/>
                  </a:cxn>
                  <a:cxn ang="0">
                    <a:pos x="337" y="41"/>
                  </a:cxn>
                  <a:cxn ang="0">
                    <a:pos x="334" y="38"/>
                  </a:cxn>
                  <a:cxn ang="0">
                    <a:pos x="321" y="21"/>
                  </a:cxn>
                  <a:cxn ang="0">
                    <a:pos x="316" y="0"/>
                  </a:cxn>
                  <a:cxn ang="0">
                    <a:pos x="188" y="94"/>
                  </a:cxn>
                  <a:cxn ang="0">
                    <a:pos x="88" y="218"/>
                  </a:cxn>
                  <a:cxn ang="0">
                    <a:pos x="21" y="366"/>
                  </a:cxn>
                  <a:cxn ang="0">
                    <a:pos x="0" y="530"/>
                  </a:cxn>
                  <a:cxn ang="0">
                    <a:pos x="20" y="680"/>
                  </a:cxn>
                  <a:cxn ang="0">
                    <a:pos x="74" y="819"/>
                  </a:cxn>
                  <a:cxn ang="0">
                    <a:pos x="160" y="938"/>
                  </a:cxn>
                  <a:cxn ang="0">
                    <a:pos x="272" y="1032"/>
                  </a:cxn>
                </a:cxnLst>
                <a:rect l="0" t="0" r="r" b="b"/>
                <a:pathLst>
                  <a:path w="443" h="1033">
                    <a:moveTo>
                      <a:pt x="272" y="1032"/>
                    </a:moveTo>
                    <a:lnTo>
                      <a:pt x="290" y="1016"/>
                    </a:lnTo>
                    <a:lnTo>
                      <a:pt x="301" y="992"/>
                    </a:lnTo>
                    <a:lnTo>
                      <a:pt x="316" y="974"/>
                    </a:lnTo>
                    <a:lnTo>
                      <a:pt x="328" y="955"/>
                    </a:lnTo>
                    <a:lnTo>
                      <a:pt x="354" y="920"/>
                    </a:lnTo>
                    <a:lnTo>
                      <a:pt x="373" y="904"/>
                    </a:lnTo>
                    <a:lnTo>
                      <a:pt x="384" y="884"/>
                    </a:lnTo>
                    <a:lnTo>
                      <a:pt x="390" y="848"/>
                    </a:lnTo>
                    <a:lnTo>
                      <a:pt x="381" y="832"/>
                    </a:lnTo>
                    <a:lnTo>
                      <a:pt x="375" y="812"/>
                    </a:lnTo>
                    <a:lnTo>
                      <a:pt x="370" y="794"/>
                    </a:lnTo>
                    <a:lnTo>
                      <a:pt x="361" y="774"/>
                    </a:lnTo>
                    <a:lnTo>
                      <a:pt x="361" y="760"/>
                    </a:lnTo>
                    <a:lnTo>
                      <a:pt x="361" y="747"/>
                    </a:lnTo>
                    <a:lnTo>
                      <a:pt x="361" y="734"/>
                    </a:lnTo>
                    <a:lnTo>
                      <a:pt x="359" y="722"/>
                    </a:lnTo>
                    <a:lnTo>
                      <a:pt x="359" y="707"/>
                    </a:lnTo>
                    <a:lnTo>
                      <a:pt x="364" y="698"/>
                    </a:lnTo>
                    <a:lnTo>
                      <a:pt x="373" y="691"/>
                    </a:lnTo>
                    <a:lnTo>
                      <a:pt x="390" y="686"/>
                    </a:lnTo>
                    <a:lnTo>
                      <a:pt x="391" y="686"/>
                    </a:lnTo>
                    <a:lnTo>
                      <a:pt x="395" y="682"/>
                    </a:lnTo>
                    <a:lnTo>
                      <a:pt x="395" y="680"/>
                    </a:lnTo>
                    <a:lnTo>
                      <a:pt x="395" y="677"/>
                    </a:lnTo>
                    <a:lnTo>
                      <a:pt x="390" y="671"/>
                    </a:lnTo>
                    <a:lnTo>
                      <a:pt x="386" y="666"/>
                    </a:lnTo>
                    <a:lnTo>
                      <a:pt x="386" y="660"/>
                    </a:lnTo>
                    <a:lnTo>
                      <a:pt x="395" y="655"/>
                    </a:lnTo>
                    <a:lnTo>
                      <a:pt x="437" y="635"/>
                    </a:lnTo>
                    <a:lnTo>
                      <a:pt x="442" y="626"/>
                    </a:lnTo>
                    <a:lnTo>
                      <a:pt x="442" y="619"/>
                    </a:lnTo>
                    <a:lnTo>
                      <a:pt x="442" y="613"/>
                    </a:lnTo>
                    <a:lnTo>
                      <a:pt x="438" y="604"/>
                    </a:lnTo>
                    <a:lnTo>
                      <a:pt x="417" y="577"/>
                    </a:lnTo>
                    <a:lnTo>
                      <a:pt x="400" y="543"/>
                    </a:lnTo>
                    <a:lnTo>
                      <a:pt x="391" y="511"/>
                    </a:lnTo>
                    <a:lnTo>
                      <a:pt x="384" y="474"/>
                    </a:lnTo>
                    <a:lnTo>
                      <a:pt x="368" y="465"/>
                    </a:lnTo>
                    <a:lnTo>
                      <a:pt x="354" y="455"/>
                    </a:lnTo>
                    <a:lnTo>
                      <a:pt x="339" y="444"/>
                    </a:lnTo>
                    <a:lnTo>
                      <a:pt x="326" y="433"/>
                    </a:lnTo>
                    <a:lnTo>
                      <a:pt x="317" y="422"/>
                    </a:lnTo>
                    <a:lnTo>
                      <a:pt x="312" y="411"/>
                    </a:lnTo>
                    <a:lnTo>
                      <a:pt x="308" y="402"/>
                    </a:lnTo>
                    <a:lnTo>
                      <a:pt x="307" y="391"/>
                    </a:lnTo>
                    <a:lnTo>
                      <a:pt x="285" y="363"/>
                    </a:lnTo>
                    <a:lnTo>
                      <a:pt x="290" y="339"/>
                    </a:lnTo>
                    <a:lnTo>
                      <a:pt x="301" y="314"/>
                    </a:lnTo>
                    <a:lnTo>
                      <a:pt x="308" y="289"/>
                    </a:lnTo>
                    <a:lnTo>
                      <a:pt x="308" y="267"/>
                    </a:lnTo>
                    <a:lnTo>
                      <a:pt x="298" y="278"/>
                    </a:lnTo>
                    <a:lnTo>
                      <a:pt x="287" y="294"/>
                    </a:lnTo>
                    <a:lnTo>
                      <a:pt x="280" y="307"/>
                    </a:lnTo>
                    <a:lnTo>
                      <a:pt x="272" y="314"/>
                    </a:lnTo>
                    <a:lnTo>
                      <a:pt x="269" y="283"/>
                    </a:lnTo>
                    <a:lnTo>
                      <a:pt x="271" y="254"/>
                    </a:lnTo>
                    <a:lnTo>
                      <a:pt x="272" y="224"/>
                    </a:lnTo>
                    <a:lnTo>
                      <a:pt x="272" y="195"/>
                    </a:lnTo>
                    <a:lnTo>
                      <a:pt x="280" y="177"/>
                    </a:lnTo>
                    <a:lnTo>
                      <a:pt x="280" y="164"/>
                    </a:lnTo>
                    <a:lnTo>
                      <a:pt x="280" y="146"/>
                    </a:lnTo>
                    <a:lnTo>
                      <a:pt x="281" y="133"/>
                    </a:lnTo>
                    <a:lnTo>
                      <a:pt x="281" y="123"/>
                    </a:lnTo>
                    <a:lnTo>
                      <a:pt x="285" y="113"/>
                    </a:lnTo>
                    <a:lnTo>
                      <a:pt x="290" y="104"/>
                    </a:lnTo>
                    <a:lnTo>
                      <a:pt x="296" y="97"/>
                    </a:lnTo>
                    <a:lnTo>
                      <a:pt x="296" y="97"/>
                    </a:lnTo>
                    <a:lnTo>
                      <a:pt x="298" y="94"/>
                    </a:lnTo>
                    <a:lnTo>
                      <a:pt x="298" y="94"/>
                    </a:lnTo>
                    <a:lnTo>
                      <a:pt x="298" y="94"/>
                    </a:lnTo>
                    <a:lnTo>
                      <a:pt x="301" y="92"/>
                    </a:lnTo>
                    <a:lnTo>
                      <a:pt x="303" y="86"/>
                    </a:lnTo>
                    <a:lnTo>
                      <a:pt x="307" y="83"/>
                    </a:lnTo>
                    <a:lnTo>
                      <a:pt x="308" y="83"/>
                    </a:lnTo>
                    <a:lnTo>
                      <a:pt x="317" y="79"/>
                    </a:lnTo>
                    <a:lnTo>
                      <a:pt x="323" y="77"/>
                    </a:lnTo>
                    <a:lnTo>
                      <a:pt x="328" y="77"/>
                    </a:lnTo>
                    <a:lnTo>
                      <a:pt x="334" y="74"/>
                    </a:lnTo>
                    <a:lnTo>
                      <a:pt x="337" y="74"/>
                    </a:lnTo>
                    <a:lnTo>
                      <a:pt x="339" y="72"/>
                    </a:lnTo>
                    <a:lnTo>
                      <a:pt x="345" y="67"/>
                    </a:lnTo>
                    <a:lnTo>
                      <a:pt x="345" y="63"/>
                    </a:lnTo>
                    <a:lnTo>
                      <a:pt x="337" y="50"/>
                    </a:lnTo>
                    <a:lnTo>
                      <a:pt x="337" y="50"/>
                    </a:lnTo>
                    <a:lnTo>
                      <a:pt x="337" y="47"/>
                    </a:lnTo>
                    <a:lnTo>
                      <a:pt x="337" y="47"/>
                    </a:lnTo>
                    <a:lnTo>
                      <a:pt x="337" y="43"/>
                    </a:lnTo>
                    <a:lnTo>
                      <a:pt x="337" y="43"/>
                    </a:lnTo>
                    <a:lnTo>
                      <a:pt x="337" y="41"/>
                    </a:lnTo>
                    <a:lnTo>
                      <a:pt x="334" y="41"/>
                    </a:lnTo>
                    <a:lnTo>
                      <a:pt x="334" y="38"/>
                    </a:lnTo>
                    <a:lnTo>
                      <a:pt x="328" y="30"/>
                    </a:lnTo>
                    <a:lnTo>
                      <a:pt x="321" y="21"/>
                    </a:lnTo>
                    <a:lnTo>
                      <a:pt x="317" y="11"/>
                    </a:lnTo>
                    <a:lnTo>
                      <a:pt x="316" y="0"/>
                    </a:lnTo>
                    <a:lnTo>
                      <a:pt x="249" y="41"/>
                    </a:lnTo>
                    <a:lnTo>
                      <a:pt x="188" y="94"/>
                    </a:lnTo>
                    <a:lnTo>
                      <a:pt x="133" y="151"/>
                    </a:lnTo>
                    <a:lnTo>
                      <a:pt x="88" y="218"/>
                    </a:lnTo>
                    <a:lnTo>
                      <a:pt x="50" y="289"/>
                    </a:lnTo>
                    <a:lnTo>
                      <a:pt x="21" y="366"/>
                    </a:lnTo>
                    <a:lnTo>
                      <a:pt x="5" y="446"/>
                    </a:lnTo>
                    <a:lnTo>
                      <a:pt x="0" y="530"/>
                    </a:lnTo>
                    <a:lnTo>
                      <a:pt x="5" y="608"/>
                    </a:lnTo>
                    <a:lnTo>
                      <a:pt x="20" y="680"/>
                    </a:lnTo>
                    <a:lnTo>
                      <a:pt x="45" y="751"/>
                    </a:lnTo>
                    <a:lnTo>
                      <a:pt x="74" y="819"/>
                    </a:lnTo>
                    <a:lnTo>
                      <a:pt x="114" y="879"/>
                    </a:lnTo>
                    <a:lnTo>
                      <a:pt x="160" y="938"/>
                    </a:lnTo>
                    <a:lnTo>
                      <a:pt x="215" y="987"/>
                    </a:lnTo>
                    <a:lnTo>
                      <a:pt x="272" y="1032"/>
                    </a:lnTo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0" name="Freeform 26"/>
              <p:cNvSpPr>
                <a:spLocks/>
              </p:cNvSpPr>
              <p:nvPr/>
            </p:nvSpPr>
            <p:spPr bwMode="invGray">
              <a:xfrm>
                <a:off x="379" y="2327"/>
                <a:ext cx="824" cy="1203"/>
              </a:xfrm>
              <a:custGeom>
                <a:avLst/>
                <a:gdLst/>
                <a:ahLst/>
                <a:cxnLst>
                  <a:cxn ang="0">
                    <a:pos x="796" y="688"/>
                  </a:cxn>
                  <a:cxn ang="0">
                    <a:pos x="756" y="641"/>
                  </a:cxn>
                  <a:cxn ang="0">
                    <a:pos x="812" y="615"/>
                  </a:cxn>
                  <a:cxn ang="0">
                    <a:pos x="814" y="502"/>
                  </a:cxn>
                  <a:cxn ang="0">
                    <a:pos x="705" y="247"/>
                  </a:cxn>
                  <a:cxn ang="0">
                    <a:pos x="651" y="262"/>
                  </a:cxn>
                  <a:cxn ang="0">
                    <a:pos x="574" y="289"/>
                  </a:cxn>
                  <a:cxn ang="0">
                    <a:pos x="536" y="258"/>
                  </a:cxn>
                  <a:cxn ang="0">
                    <a:pos x="563" y="170"/>
                  </a:cxn>
                  <a:cxn ang="0">
                    <a:pos x="532" y="81"/>
                  </a:cxn>
                  <a:cxn ang="0">
                    <a:pos x="455" y="56"/>
                  </a:cxn>
                  <a:cxn ang="0">
                    <a:pos x="484" y="150"/>
                  </a:cxn>
                  <a:cxn ang="0">
                    <a:pos x="465" y="190"/>
                  </a:cxn>
                  <a:cxn ang="0">
                    <a:pos x="442" y="200"/>
                  </a:cxn>
                  <a:cxn ang="0">
                    <a:pos x="419" y="164"/>
                  </a:cxn>
                  <a:cxn ang="0">
                    <a:pos x="381" y="108"/>
                  </a:cxn>
                  <a:cxn ang="0">
                    <a:pos x="406" y="108"/>
                  </a:cxn>
                  <a:cxn ang="0">
                    <a:pos x="424" y="72"/>
                  </a:cxn>
                  <a:cxn ang="0">
                    <a:pos x="325" y="0"/>
                  </a:cxn>
                  <a:cxn ang="0">
                    <a:pos x="281" y="27"/>
                  </a:cxn>
                  <a:cxn ang="0">
                    <a:pos x="240" y="72"/>
                  </a:cxn>
                  <a:cxn ang="0">
                    <a:pos x="209" y="114"/>
                  </a:cxn>
                  <a:cxn ang="0">
                    <a:pos x="209" y="150"/>
                  </a:cxn>
                  <a:cxn ang="0">
                    <a:pos x="240" y="164"/>
                  </a:cxn>
                  <a:cxn ang="0">
                    <a:pos x="209" y="222"/>
                  </a:cxn>
                  <a:cxn ang="0">
                    <a:pos x="213" y="242"/>
                  </a:cxn>
                  <a:cxn ang="0">
                    <a:pos x="267" y="222"/>
                  </a:cxn>
                  <a:cxn ang="0">
                    <a:pos x="303" y="170"/>
                  </a:cxn>
                  <a:cxn ang="0">
                    <a:pos x="354" y="231"/>
                  </a:cxn>
                  <a:cxn ang="0">
                    <a:pos x="372" y="291"/>
                  </a:cxn>
                  <a:cxn ang="0">
                    <a:pos x="348" y="294"/>
                  </a:cxn>
                  <a:cxn ang="0">
                    <a:pos x="298" y="309"/>
                  </a:cxn>
                  <a:cxn ang="0">
                    <a:pos x="323" y="330"/>
                  </a:cxn>
                  <a:cxn ang="0">
                    <a:pos x="260" y="339"/>
                  </a:cxn>
                  <a:cxn ang="0">
                    <a:pos x="189" y="411"/>
                  </a:cxn>
                  <a:cxn ang="0">
                    <a:pos x="184" y="469"/>
                  </a:cxn>
                  <a:cxn ang="0">
                    <a:pos x="148" y="435"/>
                  </a:cxn>
                  <a:cxn ang="0">
                    <a:pos x="83" y="402"/>
                  </a:cxn>
                  <a:cxn ang="0">
                    <a:pos x="0" y="455"/>
                  </a:cxn>
                  <a:cxn ang="0">
                    <a:pos x="54" y="496"/>
                  </a:cxn>
                  <a:cxn ang="0">
                    <a:pos x="74" y="485"/>
                  </a:cxn>
                  <a:cxn ang="0">
                    <a:pos x="54" y="608"/>
                  </a:cxn>
                  <a:cxn ang="0">
                    <a:pos x="132" y="641"/>
                  </a:cxn>
                  <a:cxn ang="0">
                    <a:pos x="195" y="661"/>
                  </a:cxn>
                  <a:cxn ang="0">
                    <a:pos x="249" y="744"/>
                  </a:cxn>
                  <a:cxn ang="0">
                    <a:pos x="334" y="886"/>
                  </a:cxn>
                  <a:cxn ang="0">
                    <a:pos x="391" y="1007"/>
                  </a:cxn>
                  <a:cxn ang="0">
                    <a:pos x="292" y="1052"/>
                  </a:cxn>
                  <a:cxn ang="0">
                    <a:pos x="182" y="1105"/>
                  </a:cxn>
                  <a:cxn ang="0">
                    <a:pos x="68" y="1180"/>
                  </a:cxn>
                  <a:cxn ang="0">
                    <a:pos x="200" y="1202"/>
                  </a:cxn>
                  <a:cxn ang="0">
                    <a:pos x="417" y="1168"/>
                  </a:cxn>
                  <a:cxn ang="0">
                    <a:pos x="613" y="1052"/>
                  </a:cxn>
                  <a:cxn ang="0">
                    <a:pos x="610" y="929"/>
                  </a:cxn>
                  <a:cxn ang="0">
                    <a:pos x="543" y="888"/>
                  </a:cxn>
                  <a:cxn ang="0">
                    <a:pos x="567" y="791"/>
                  </a:cxn>
                  <a:cxn ang="0">
                    <a:pos x="655" y="738"/>
                  </a:cxn>
                  <a:cxn ang="0">
                    <a:pos x="725" y="713"/>
                  </a:cxn>
                  <a:cxn ang="0">
                    <a:pos x="792" y="729"/>
                  </a:cxn>
                </a:cxnLst>
                <a:rect l="0" t="0" r="r" b="b"/>
                <a:pathLst>
                  <a:path w="824" h="1203">
                    <a:moveTo>
                      <a:pt x="803" y="736"/>
                    </a:moveTo>
                    <a:lnTo>
                      <a:pt x="807" y="724"/>
                    </a:lnTo>
                    <a:lnTo>
                      <a:pt x="808" y="713"/>
                    </a:lnTo>
                    <a:lnTo>
                      <a:pt x="812" y="702"/>
                    </a:lnTo>
                    <a:lnTo>
                      <a:pt x="814" y="691"/>
                    </a:lnTo>
                    <a:lnTo>
                      <a:pt x="803" y="691"/>
                    </a:lnTo>
                    <a:lnTo>
                      <a:pt x="796" y="688"/>
                    </a:lnTo>
                    <a:lnTo>
                      <a:pt x="783" y="686"/>
                    </a:lnTo>
                    <a:lnTo>
                      <a:pt x="776" y="680"/>
                    </a:lnTo>
                    <a:lnTo>
                      <a:pt x="770" y="675"/>
                    </a:lnTo>
                    <a:lnTo>
                      <a:pt x="767" y="666"/>
                    </a:lnTo>
                    <a:lnTo>
                      <a:pt x="761" y="661"/>
                    </a:lnTo>
                    <a:lnTo>
                      <a:pt x="760" y="655"/>
                    </a:lnTo>
                    <a:lnTo>
                      <a:pt x="756" y="641"/>
                    </a:lnTo>
                    <a:lnTo>
                      <a:pt x="756" y="624"/>
                    </a:lnTo>
                    <a:lnTo>
                      <a:pt x="760" y="610"/>
                    </a:lnTo>
                    <a:lnTo>
                      <a:pt x="767" y="599"/>
                    </a:lnTo>
                    <a:lnTo>
                      <a:pt x="781" y="597"/>
                    </a:lnTo>
                    <a:lnTo>
                      <a:pt x="792" y="599"/>
                    </a:lnTo>
                    <a:lnTo>
                      <a:pt x="803" y="608"/>
                    </a:lnTo>
                    <a:lnTo>
                      <a:pt x="812" y="615"/>
                    </a:lnTo>
                    <a:lnTo>
                      <a:pt x="819" y="628"/>
                    </a:lnTo>
                    <a:lnTo>
                      <a:pt x="823" y="619"/>
                    </a:lnTo>
                    <a:lnTo>
                      <a:pt x="823" y="610"/>
                    </a:lnTo>
                    <a:lnTo>
                      <a:pt x="823" y="605"/>
                    </a:lnTo>
                    <a:lnTo>
                      <a:pt x="823" y="597"/>
                    </a:lnTo>
                    <a:lnTo>
                      <a:pt x="819" y="549"/>
                    </a:lnTo>
                    <a:lnTo>
                      <a:pt x="814" y="502"/>
                    </a:lnTo>
                    <a:lnTo>
                      <a:pt x="807" y="455"/>
                    </a:lnTo>
                    <a:lnTo>
                      <a:pt x="792" y="411"/>
                    </a:lnTo>
                    <a:lnTo>
                      <a:pt x="776" y="366"/>
                    </a:lnTo>
                    <a:lnTo>
                      <a:pt x="756" y="325"/>
                    </a:lnTo>
                    <a:lnTo>
                      <a:pt x="734" y="285"/>
                    </a:lnTo>
                    <a:lnTo>
                      <a:pt x="709" y="247"/>
                    </a:lnTo>
                    <a:lnTo>
                      <a:pt x="705" y="247"/>
                    </a:lnTo>
                    <a:lnTo>
                      <a:pt x="702" y="244"/>
                    </a:lnTo>
                    <a:lnTo>
                      <a:pt x="698" y="244"/>
                    </a:lnTo>
                    <a:lnTo>
                      <a:pt x="693" y="242"/>
                    </a:lnTo>
                    <a:lnTo>
                      <a:pt x="677" y="253"/>
                    </a:lnTo>
                    <a:lnTo>
                      <a:pt x="668" y="254"/>
                    </a:lnTo>
                    <a:lnTo>
                      <a:pt x="660" y="258"/>
                    </a:lnTo>
                    <a:lnTo>
                      <a:pt x="651" y="262"/>
                    </a:lnTo>
                    <a:lnTo>
                      <a:pt x="642" y="264"/>
                    </a:lnTo>
                    <a:lnTo>
                      <a:pt x="631" y="267"/>
                    </a:lnTo>
                    <a:lnTo>
                      <a:pt x="619" y="273"/>
                    </a:lnTo>
                    <a:lnTo>
                      <a:pt x="606" y="278"/>
                    </a:lnTo>
                    <a:lnTo>
                      <a:pt x="594" y="283"/>
                    </a:lnTo>
                    <a:lnTo>
                      <a:pt x="583" y="285"/>
                    </a:lnTo>
                    <a:lnTo>
                      <a:pt x="574" y="289"/>
                    </a:lnTo>
                    <a:lnTo>
                      <a:pt x="567" y="291"/>
                    </a:lnTo>
                    <a:lnTo>
                      <a:pt x="557" y="289"/>
                    </a:lnTo>
                    <a:lnTo>
                      <a:pt x="554" y="285"/>
                    </a:lnTo>
                    <a:lnTo>
                      <a:pt x="548" y="280"/>
                    </a:lnTo>
                    <a:lnTo>
                      <a:pt x="547" y="278"/>
                    </a:lnTo>
                    <a:lnTo>
                      <a:pt x="543" y="273"/>
                    </a:lnTo>
                    <a:lnTo>
                      <a:pt x="536" y="258"/>
                    </a:lnTo>
                    <a:lnTo>
                      <a:pt x="532" y="244"/>
                    </a:lnTo>
                    <a:lnTo>
                      <a:pt x="532" y="231"/>
                    </a:lnTo>
                    <a:lnTo>
                      <a:pt x="530" y="217"/>
                    </a:lnTo>
                    <a:lnTo>
                      <a:pt x="532" y="202"/>
                    </a:lnTo>
                    <a:lnTo>
                      <a:pt x="541" y="190"/>
                    </a:lnTo>
                    <a:lnTo>
                      <a:pt x="552" y="177"/>
                    </a:lnTo>
                    <a:lnTo>
                      <a:pt x="563" y="170"/>
                    </a:lnTo>
                    <a:lnTo>
                      <a:pt x="574" y="159"/>
                    </a:lnTo>
                    <a:lnTo>
                      <a:pt x="583" y="146"/>
                    </a:lnTo>
                    <a:lnTo>
                      <a:pt x="588" y="134"/>
                    </a:lnTo>
                    <a:lnTo>
                      <a:pt x="588" y="119"/>
                    </a:lnTo>
                    <a:lnTo>
                      <a:pt x="568" y="105"/>
                    </a:lnTo>
                    <a:lnTo>
                      <a:pt x="552" y="92"/>
                    </a:lnTo>
                    <a:lnTo>
                      <a:pt x="532" y="81"/>
                    </a:lnTo>
                    <a:lnTo>
                      <a:pt x="512" y="70"/>
                    </a:lnTo>
                    <a:lnTo>
                      <a:pt x="491" y="58"/>
                    </a:lnTo>
                    <a:lnTo>
                      <a:pt x="471" y="47"/>
                    </a:lnTo>
                    <a:lnTo>
                      <a:pt x="449" y="38"/>
                    </a:lnTo>
                    <a:lnTo>
                      <a:pt x="428" y="31"/>
                    </a:lnTo>
                    <a:lnTo>
                      <a:pt x="442" y="45"/>
                    </a:lnTo>
                    <a:lnTo>
                      <a:pt x="455" y="56"/>
                    </a:lnTo>
                    <a:lnTo>
                      <a:pt x="465" y="63"/>
                    </a:lnTo>
                    <a:lnTo>
                      <a:pt x="484" y="74"/>
                    </a:lnTo>
                    <a:lnTo>
                      <a:pt x="485" y="88"/>
                    </a:lnTo>
                    <a:lnTo>
                      <a:pt x="484" y="105"/>
                    </a:lnTo>
                    <a:lnTo>
                      <a:pt x="478" y="123"/>
                    </a:lnTo>
                    <a:lnTo>
                      <a:pt x="478" y="135"/>
                    </a:lnTo>
                    <a:lnTo>
                      <a:pt x="484" y="150"/>
                    </a:lnTo>
                    <a:lnTo>
                      <a:pt x="484" y="155"/>
                    </a:lnTo>
                    <a:lnTo>
                      <a:pt x="480" y="161"/>
                    </a:lnTo>
                    <a:lnTo>
                      <a:pt x="474" y="166"/>
                    </a:lnTo>
                    <a:lnTo>
                      <a:pt x="469" y="170"/>
                    </a:lnTo>
                    <a:lnTo>
                      <a:pt x="465" y="175"/>
                    </a:lnTo>
                    <a:lnTo>
                      <a:pt x="465" y="180"/>
                    </a:lnTo>
                    <a:lnTo>
                      <a:pt x="465" y="190"/>
                    </a:lnTo>
                    <a:lnTo>
                      <a:pt x="464" y="195"/>
                    </a:lnTo>
                    <a:lnTo>
                      <a:pt x="460" y="197"/>
                    </a:lnTo>
                    <a:lnTo>
                      <a:pt x="458" y="200"/>
                    </a:lnTo>
                    <a:lnTo>
                      <a:pt x="455" y="200"/>
                    </a:lnTo>
                    <a:lnTo>
                      <a:pt x="453" y="200"/>
                    </a:lnTo>
                    <a:lnTo>
                      <a:pt x="447" y="197"/>
                    </a:lnTo>
                    <a:lnTo>
                      <a:pt x="442" y="200"/>
                    </a:lnTo>
                    <a:lnTo>
                      <a:pt x="433" y="202"/>
                    </a:lnTo>
                    <a:lnTo>
                      <a:pt x="428" y="202"/>
                    </a:lnTo>
                    <a:lnTo>
                      <a:pt x="424" y="200"/>
                    </a:lnTo>
                    <a:lnTo>
                      <a:pt x="424" y="197"/>
                    </a:lnTo>
                    <a:lnTo>
                      <a:pt x="424" y="197"/>
                    </a:lnTo>
                    <a:lnTo>
                      <a:pt x="422" y="195"/>
                    </a:lnTo>
                    <a:lnTo>
                      <a:pt x="419" y="164"/>
                    </a:lnTo>
                    <a:lnTo>
                      <a:pt x="411" y="159"/>
                    </a:lnTo>
                    <a:lnTo>
                      <a:pt x="406" y="150"/>
                    </a:lnTo>
                    <a:lnTo>
                      <a:pt x="397" y="141"/>
                    </a:lnTo>
                    <a:lnTo>
                      <a:pt x="390" y="134"/>
                    </a:lnTo>
                    <a:lnTo>
                      <a:pt x="386" y="125"/>
                    </a:lnTo>
                    <a:lnTo>
                      <a:pt x="384" y="117"/>
                    </a:lnTo>
                    <a:lnTo>
                      <a:pt x="381" y="108"/>
                    </a:lnTo>
                    <a:lnTo>
                      <a:pt x="384" y="103"/>
                    </a:lnTo>
                    <a:lnTo>
                      <a:pt x="386" y="99"/>
                    </a:lnTo>
                    <a:lnTo>
                      <a:pt x="390" y="99"/>
                    </a:lnTo>
                    <a:lnTo>
                      <a:pt x="390" y="97"/>
                    </a:lnTo>
                    <a:lnTo>
                      <a:pt x="391" y="97"/>
                    </a:lnTo>
                    <a:lnTo>
                      <a:pt x="397" y="103"/>
                    </a:lnTo>
                    <a:lnTo>
                      <a:pt x="406" y="108"/>
                    </a:lnTo>
                    <a:lnTo>
                      <a:pt x="413" y="110"/>
                    </a:lnTo>
                    <a:lnTo>
                      <a:pt x="422" y="110"/>
                    </a:lnTo>
                    <a:lnTo>
                      <a:pt x="424" y="110"/>
                    </a:lnTo>
                    <a:lnTo>
                      <a:pt x="424" y="108"/>
                    </a:lnTo>
                    <a:lnTo>
                      <a:pt x="424" y="108"/>
                    </a:lnTo>
                    <a:lnTo>
                      <a:pt x="424" y="108"/>
                    </a:lnTo>
                    <a:lnTo>
                      <a:pt x="424" y="72"/>
                    </a:lnTo>
                    <a:lnTo>
                      <a:pt x="411" y="56"/>
                    </a:lnTo>
                    <a:lnTo>
                      <a:pt x="395" y="42"/>
                    </a:lnTo>
                    <a:lnTo>
                      <a:pt x="377" y="27"/>
                    </a:lnTo>
                    <a:lnTo>
                      <a:pt x="364" y="9"/>
                    </a:lnTo>
                    <a:lnTo>
                      <a:pt x="350" y="5"/>
                    </a:lnTo>
                    <a:lnTo>
                      <a:pt x="339" y="2"/>
                    </a:lnTo>
                    <a:lnTo>
                      <a:pt x="325" y="0"/>
                    </a:lnTo>
                    <a:lnTo>
                      <a:pt x="312" y="0"/>
                    </a:lnTo>
                    <a:lnTo>
                      <a:pt x="308" y="0"/>
                    </a:lnTo>
                    <a:lnTo>
                      <a:pt x="308" y="2"/>
                    </a:lnTo>
                    <a:lnTo>
                      <a:pt x="308" y="5"/>
                    </a:lnTo>
                    <a:lnTo>
                      <a:pt x="307" y="9"/>
                    </a:lnTo>
                    <a:lnTo>
                      <a:pt x="289" y="14"/>
                    </a:lnTo>
                    <a:lnTo>
                      <a:pt x="281" y="27"/>
                    </a:lnTo>
                    <a:lnTo>
                      <a:pt x="276" y="42"/>
                    </a:lnTo>
                    <a:lnTo>
                      <a:pt x="265" y="56"/>
                    </a:lnTo>
                    <a:lnTo>
                      <a:pt x="260" y="56"/>
                    </a:lnTo>
                    <a:lnTo>
                      <a:pt x="256" y="56"/>
                    </a:lnTo>
                    <a:lnTo>
                      <a:pt x="251" y="56"/>
                    </a:lnTo>
                    <a:lnTo>
                      <a:pt x="249" y="58"/>
                    </a:lnTo>
                    <a:lnTo>
                      <a:pt x="240" y="72"/>
                    </a:lnTo>
                    <a:lnTo>
                      <a:pt x="231" y="87"/>
                    </a:lnTo>
                    <a:lnTo>
                      <a:pt x="224" y="99"/>
                    </a:lnTo>
                    <a:lnTo>
                      <a:pt x="213" y="110"/>
                    </a:lnTo>
                    <a:lnTo>
                      <a:pt x="209" y="110"/>
                    </a:lnTo>
                    <a:lnTo>
                      <a:pt x="209" y="110"/>
                    </a:lnTo>
                    <a:lnTo>
                      <a:pt x="209" y="110"/>
                    </a:lnTo>
                    <a:lnTo>
                      <a:pt x="209" y="114"/>
                    </a:lnTo>
                    <a:lnTo>
                      <a:pt x="184" y="139"/>
                    </a:lnTo>
                    <a:lnTo>
                      <a:pt x="184" y="139"/>
                    </a:lnTo>
                    <a:lnTo>
                      <a:pt x="184" y="139"/>
                    </a:lnTo>
                    <a:lnTo>
                      <a:pt x="184" y="139"/>
                    </a:lnTo>
                    <a:lnTo>
                      <a:pt x="184" y="141"/>
                    </a:lnTo>
                    <a:lnTo>
                      <a:pt x="195" y="146"/>
                    </a:lnTo>
                    <a:lnTo>
                      <a:pt x="209" y="150"/>
                    </a:lnTo>
                    <a:lnTo>
                      <a:pt x="224" y="153"/>
                    </a:lnTo>
                    <a:lnTo>
                      <a:pt x="234" y="153"/>
                    </a:lnTo>
                    <a:lnTo>
                      <a:pt x="236" y="155"/>
                    </a:lnTo>
                    <a:lnTo>
                      <a:pt x="240" y="155"/>
                    </a:lnTo>
                    <a:lnTo>
                      <a:pt x="240" y="159"/>
                    </a:lnTo>
                    <a:lnTo>
                      <a:pt x="242" y="161"/>
                    </a:lnTo>
                    <a:lnTo>
                      <a:pt x="240" y="164"/>
                    </a:lnTo>
                    <a:lnTo>
                      <a:pt x="234" y="166"/>
                    </a:lnTo>
                    <a:lnTo>
                      <a:pt x="231" y="170"/>
                    </a:lnTo>
                    <a:lnTo>
                      <a:pt x="225" y="171"/>
                    </a:lnTo>
                    <a:lnTo>
                      <a:pt x="220" y="180"/>
                    </a:lnTo>
                    <a:lnTo>
                      <a:pt x="215" y="195"/>
                    </a:lnTo>
                    <a:lnTo>
                      <a:pt x="209" y="208"/>
                    </a:lnTo>
                    <a:lnTo>
                      <a:pt x="209" y="222"/>
                    </a:lnTo>
                    <a:lnTo>
                      <a:pt x="213" y="227"/>
                    </a:lnTo>
                    <a:lnTo>
                      <a:pt x="215" y="227"/>
                    </a:lnTo>
                    <a:lnTo>
                      <a:pt x="213" y="231"/>
                    </a:lnTo>
                    <a:lnTo>
                      <a:pt x="209" y="238"/>
                    </a:lnTo>
                    <a:lnTo>
                      <a:pt x="209" y="238"/>
                    </a:lnTo>
                    <a:lnTo>
                      <a:pt x="213" y="242"/>
                    </a:lnTo>
                    <a:lnTo>
                      <a:pt x="213" y="242"/>
                    </a:lnTo>
                    <a:lnTo>
                      <a:pt x="215" y="244"/>
                    </a:lnTo>
                    <a:lnTo>
                      <a:pt x="231" y="233"/>
                    </a:lnTo>
                    <a:lnTo>
                      <a:pt x="260" y="231"/>
                    </a:lnTo>
                    <a:lnTo>
                      <a:pt x="260" y="227"/>
                    </a:lnTo>
                    <a:lnTo>
                      <a:pt x="262" y="226"/>
                    </a:lnTo>
                    <a:lnTo>
                      <a:pt x="265" y="226"/>
                    </a:lnTo>
                    <a:lnTo>
                      <a:pt x="267" y="222"/>
                    </a:lnTo>
                    <a:lnTo>
                      <a:pt x="267" y="200"/>
                    </a:lnTo>
                    <a:lnTo>
                      <a:pt x="289" y="155"/>
                    </a:lnTo>
                    <a:lnTo>
                      <a:pt x="289" y="155"/>
                    </a:lnTo>
                    <a:lnTo>
                      <a:pt x="292" y="155"/>
                    </a:lnTo>
                    <a:lnTo>
                      <a:pt x="292" y="155"/>
                    </a:lnTo>
                    <a:lnTo>
                      <a:pt x="292" y="155"/>
                    </a:lnTo>
                    <a:lnTo>
                      <a:pt x="303" y="170"/>
                    </a:lnTo>
                    <a:lnTo>
                      <a:pt x="312" y="180"/>
                    </a:lnTo>
                    <a:lnTo>
                      <a:pt x="323" y="195"/>
                    </a:lnTo>
                    <a:lnTo>
                      <a:pt x="336" y="206"/>
                    </a:lnTo>
                    <a:lnTo>
                      <a:pt x="343" y="211"/>
                    </a:lnTo>
                    <a:lnTo>
                      <a:pt x="345" y="217"/>
                    </a:lnTo>
                    <a:lnTo>
                      <a:pt x="350" y="226"/>
                    </a:lnTo>
                    <a:lnTo>
                      <a:pt x="354" y="231"/>
                    </a:lnTo>
                    <a:lnTo>
                      <a:pt x="354" y="244"/>
                    </a:lnTo>
                    <a:lnTo>
                      <a:pt x="354" y="258"/>
                    </a:lnTo>
                    <a:lnTo>
                      <a:pt x="359" y="273"/>
                    </a:lnTo>
                    <a:lnTo>
                      <a:pt x="364" y="283"/>
                    </a:lnTo>
                    <a:lnTo>
                      <a:pt x="366" y="285"/>
                    </a:lnTo>
                    <a:lnTo>
                      <a:pt x="370" y="289"/>
                    </a:lnTo>
                    <a:lnTo>
                      <a:pt x="372" y="291"/>
                    </a:lnTo>
                    <a:lnTo>
                      <a:pt x="375" y="294"/>
                    </a:lnTo>
                    <a:lnTo>
                      <a:pt x="375" y="298"/>
                    </a:lnTo>
                    <a:lnTo>
                      <a:pt x="372" y="300"/>
                    </a:lnTo>
                    <a:lnTo>
                      <a:pt x="372" y="305"/>
                    </a:lnTo>
                    <a:lnTo>
                      <a:pt x="370" y="309"/>
                    </a:lnTo>
                    <a:lnTo>
                      <a:pt x="359" y="305"/>
                    </a:lnTo>
                    <a:lnTo>
                      <a:pt x="348" y="294"/>
                    </a:lnTo>
                    <a:lnTo>
                      <a:pt x="336" y="285"/>
                    </a:lnTo>
                    <a:lnTo>
                      <a:pt x="323" y="283"/>
                    </a:lnTo>
                    <a:lnTo>
                      <a:pt x="314" y="289"/>
                    </a:lnTo>
                    <a:lnTo>
                      <a:pt x="308" y="294"/>
                    </a:lnTo>
                    <a:lnTo>
                      <a:pt x="299" y="300"/>
                    </a:lnTo>
                    <a:lnTo>
                      <a:pt x="296" y="305"/>
                    </a:lnTo>
                    <a:lnTo>
                      <a:pt x="298" y="309"/>
                    </a:lnTo>
                    <a:lnTo>
                      <a:pt x="299" y="310"/>
                    </a:lnTo>
                    <a:lnTo>
                      <a:pt x="299" y="314"/>
                    </a:lnTo>
                    <a:lnTo>
                      <a:pt x="303" y="314"/>
                    </a:lnTo>
                    <a:lnTo>
                      <a:pt x="312" y="314"/>
                    </a:lnTo>
                    <a:lnTo>
                      <a:pt x="317" y="316"/>
                    </a:lnTo>
                    <a:lnTo>
                      <a:pt x="319" y="321"/>
                    </a:lnTo>
                    <a:lnTo>
                      <a:pt x="323" y="330"/>
                    </a:lnTo>
                    <a:lnTo>
                      <a:pt x="323" y="330"/>
                    </a:lnTo>
                    <a:lnTo>
                      <a:pt x="319" y="334"/>
                    </a:lnTo>
                    <a:lnTo>
                      <a:pt x="317" y="339"/>
                    </a:lnTo>
                    <a:lnTo>
                      <a:pt x="317" y="339"/>
                    </a:lnTo>
                    <a:lnTo>
                      <a:pt x="260" y="327"/>
                    </a:lnTo>
                    <a:lnTo>
                      <a:pt x="260" y="334"/>
                    </a:lnTo>
                    <a:lnTo>
                      <a:pt x="260" y="339"/>
                    </a:lnTo>
                    <a:lnTo>
                      <a:pt x="260" y="345"/>
                    </a:lnTo>
                    <a:lnTo>
                      <a:pt x="256" y="347"/>
                    </a:lnTo>
                    <a:lnTo>
                      <a:pt x="251" y="356"/>
                    </a:lnTo>
                    <a:lnTo>
                      <a:pt x="249" y="357"/>
                    </a:lnTo>
                    <a:lnTo>
                      <a:pt x="242" y="366"/>
                    </a:lnTo>
                    <a:lnTo>
                      <a:pt x="225" y="393"/>
                    </a:lnTo>
                    <a:lnTo>
                      <a:pt x="189" y="411"/>
                    </a:lnTo>
                    <a:lnTo>
                      <a:pt x="188" y="413"/>
                    </a:lnTo>
                    <a:lnTo>
                      <a:pt x="184" y="419"/>
                    </a:lnTo>
                    <a:lnTo>
                      <a:pt x="184" y="424"/>
                    </a:lnTo>
                    <a:lnTo>
                      <a:pt x="184" y="430"/>
                    </a:lnTo>
                    <a:lnTo>
                      <a:pt x="184" y="439"/>
                    </a:lnTo>
                    <a:lnTo>
                      <a:pt x="184" y="453"/>
                    </a:lnTo>
                    <a:lnTo>
                      <a:pt x="184" y="469"/>
                    </a:lnTo>
                    <a:lnTo>
                      <a:pt x="184" y="478"/>
                    </a:lnTo>
                    <a:lnTo>
                      <a:pt x="173" y="478"/>
                    </a:lnTo>
                    <a:lnTo>
                      <a:pt x="164" y="475"/>
                    </a:lnTo>
                    <a:lnTo>
                      <a:pt x="157" y="469"/>
                    </a:lnTo>
                    <a:lnTo>
                      <a:pt x="151" y="464"/>
                    </a:lnTo>
                    <a:lnTo>
                      <a:pt x="151" y="449"/>
                    </a:lnTo>
                    <a:lnTo>
                      <a:pt x="148" y="435"/>
                    </a:lnTo>
                    <a:lnTo>
                      <a:pt x="141" y="424"/>
                    </a:lnTo>
                    <a:lnTo>
                      <a:pt x="130" y="413"/>
                    </a:lnTo>
                    <a:lnTo>
                      <a:pt x="117" y="417"/>
                    </a:lnTo>
                    <a:lnTo>
                      <a:pt x="110" y="417"/>
                    </a:lnTo>
                    <a:lnTo>
                      <a:pt x="101" y="413"/>
                    </a:lnTo>
                    <a:lnTo>
                      <a:pt x="94" y="408"/>
                    </a:lnTo>
                    <a:lnTo>
                      <a:pt x="83" y="402"/>
                    </a:lnTo>
                    <a:lnTo>
                      <a:pt x="72" y="397"/>
                    </a:lnTo>
                    <a:lnTo>
                      <a:pt x="59" y="393"/>
                    </a:lnTo>
                    <a:lnTo>
                      <a:pt x="49" y="392"/>
                    </a:lnTo>
                    <a:lnTo>
                      <a:pt x="38" y="402"/>
                    </a:lnTo>
                    <a:lnTo>
                      <a:pt x="21" y="424"/>
                    </a:lnTo>
                    <a:lnTo>
                      <a:pt x="5" y="448"/>
                    </a:lnTo>
                    <a:lnTo>
                      <a:pt x="0" y="455"/>
                    </a:lnTo>
                    <a:lnTo>
                      <a:pt x="21" y="475"/>
                    </a:lnTo>
                    <a:lnTo>
                      <a:pt x="25" y="516"/>
                    </a:lnTo>
                    <a:lnTo>
                      <a:pt x="29" y="516"/>
                    </a:lnTo>
                    <a:lnTo>
                      <a:pt x="38" y="513"/>
                    </a:lnTo>
                    <a:lnTo>
                      <a:pt x="43" y="511"/>
                    </a:lnTo>
                    <a:lnTo>
                      <a:pt x="49" y="505"/>
                    </a:lnTo>
                    <a:lnTo>
                      <a:pt x="54" y="496"/>
                    </a:lnTo>
                    <a:lnTo>
                      <a:pt x="58" y="491"/>
                    </a:lnTo>
                    <a:lnTo>
                      <a:pt x="63" y="485"/>
                    </a:lnTo>
                    <a:lnTo>
                      <a:pt x="72" y="480"/>
                    </a:lnTo>
                    <a:lnTo>
                      <a:pt x="74" y="480"/>
                    </a:lnTo>
                    <a:lnTo>
                      <a:pt x="74" y="484"/>
                    </a:lnTo>
                    <a:lnTo>
                      <a:pt x="74" y="484"/>
                    </a:lnTo>
                    <a:lnTo>
                      <a:pt x="74" y="485"/>
                    </a:lnTo>
                    <a:lnTo>
                      <a:pt x="63" y="538"/>
                    </a:lnTo>
                    <a:lnTo>
                      <a:pt x="79" y="556"/>
                    </a:lnTo>
                    <a:lnTo>
                      <a:pt x="77" y="567"/>
                    </a:lnTo>
                    <a:lnTo>
                      <a:pt x="68" y="574"/>
                    </a:lnTo>
                    <a:lnTo>
                      <a:pt x="59" y="583"/>
                    </a:lnTo>
                    <a:lnTo>
                      <a:pt x="54" y="597"/>
                    </a:lnTo>
                    <a:lnTo>
                      <a:pt x="54" y="608"/>
                    </a:lnTo>
                    <a:lnTo>
                      <a:pt x="63" y="619"/>
                    </a:lnTo>
                    <a:lnTo>
                      <a:pt x="74" y="630"/>
                    </a:lnTo>
                    <a:lnTo>
                      <a:pt x="88" y="641"/>
                    </a:lnTo>
                    <a:lnTo>
                      <a:pt x="101" y="646"/>
                    </a:lnTo>
                    <a:lnTo>
                      <a:pt x="114" y="646"/>
                    </a:lnTo>
                    <a:lnTo>
                      <a:pt x="124" y="644"/>
                    </a:lnTo>
                    <a:lnTo>
                      <a:pt x="132" y="641"/>
                    </a:lnTo>
                    <a:lnTo>
                      <a:pt x="141" y="635"/>
                    </a:lnTo>
                    <a:lnTo>
                      <a:pt x="148" y="635"/>
                    </a:lnTo>
                    <a:lnTo>
                      <a:pt x="153" y="639"/>
                    </a:lnTo>
                    <a:lnTo>
                      <a:pt x="160" y="641"/>
                    </a:lnTo>
                    <a:lnTo>
                      <a:pt x="168" y="644"/>
                    </a:lnTo>
                    <a:lnTo>
                      <a:pt x="184" y="652"/>
                    </a:lnTo>
                    <a:lnTo>
                      <a:pt x="195" y="661"/>
                    </a:lnTo>
                    <a:lnTo>
                      <a:pt x="209" y="670"/>
                    </a:lnTo>
                    <a:lnTo>
                      <a:pt x="220" y="677"/>
                    </a:lnTo>
                    <a:lnTo>
                      <a:pt x="225" y="691"/>
                    </a:lnTo>
                    <a:lnTo>
                      <a:pt x="229" y="706"/>
                    </a:lnTo>
                    <a:lnTo>
                      <a:pt x="231" y="722"/>
                    </a:lnTo>
                    <a:lnTo>
                      <a:pt x="234" y="738"/>
                    </a:lnTo>
                    <a:lnTo>
                      <a:pt x="249" y="744"/>
                    </a:lnTo>
                    <a:lnTo>
                      <a:pt x="262" y="749"/>
                    </a:lnTo>
                    <a:lnTo>
                      <a:pt x="276" y="758"/>
                    </a:lnTo>
                    <a:lnTo>
                      <a:pt x="287" y="772"/>
                    </a:lnTo>
                    <a:lnTo>
                      <a:pt x="298" y="800"/>
                    </a:lnTo>
                    <a:lnTo>
                      <a:pt x="308" y="830"/>
                    </a:lnTo>
                    <a:lnTo>
                      <a:pt x="319" y="861"/>
                    </a:lnTo>
                    <a:lnTo>
                      <a:pt x="334" y="886"/>
                    </a:lnTo>
                    <a:lnTo>
                      <a:pt x="350" y="904"/>
                    </a:lnTo>
                    <a:lnTo>
                      <a:pt x="366" y="924"/>
                    </a:lnTo>
                    <a:lnTo>
                      <a:pt x="381" y="944"/>
                    </a:lnTo>
                    <a:lnTo>
                      <a:pt x="395" y="966"/>
                    </a:lnTo>
                    <a:lnTo>
                      <a:pt x="397" y="980"/>
                    </a:lnTo>
                    <a:lnTo>
                      <a:pt x="397" y="993"/>
                    </a:lnTo>
                    <a:lnTo>
                      <a:pt x="391" y="1007"/>
                    </a:lnTo>
                    <a:lnTo>
                      <a:pt x="381" y="1018"/>
                    </a:lnTo>
                    <a:lnTo>
                      <a:pt x="364" y="1022"/>
                    </a:lnTo>
                    <a:lnTo>
                      <a:pt x="348" y="1027"/>
                    </a:lnTo>
                    <a:lnTo>
                      <a:pt x="334" y="1032"/>
                    </a:lnTo>
                    <a:lnTo>
                      <a:pt x="319" y="1038"/>
                    </a:lnTo>
                    <a:lnTo>
                      <a:pt x="307" y="1043"/>
                    </a:lnTo>
                    <a:lnTo>
                      <a:pt x="292" y="1052"/>
                    </a:lnTo>
                    <a:lnTo>
                      <a:pt x="278" y="1063"/>
                    </a:lnTo>
                    <a:lnTo>
                      <a:pt x="262" y="1074"/>
                    </a:lnTo>
                    <a:lnTo>
                      <a:pt x="249" y="1083"/>
                    </a:lnTo>
                    <a:lnTo>
                      <a:pt x="231" y="1090"/>
                    </a:lnTo>
                    <a:lnTo>
                      <a:pt x="215" y="1094"/>
                    </a:lnTo>
                    <a:lnTo>
                      <a:pt x="198" y="1099"/>
                    </a:lnTo>
                    <a:lnTo>
                      <a:pt x="182" y="1105"/>
                    </a:lnTo>
                    <a:lnTo>
                      <a:pt x="164" y="1110"/>
                    </a:lnTo>
                    <a:lnTo>
                      <a:pt x="151" y="1119"/>
                    </a:lnTo>
                    <a:lnTo>
                      <a:pt x="141" y="1132"/>
                    </a:lnTo>
                    <a:lnTo>
                      <a:pt x="124" y="1146"/>
                    </a:lnTo>
                    <a:lnTo>
                      <a:pt x="106" y="1160"/>
                    </a:lnTo>
                    <a:lnTo>
                      <a:pt x="88" y="1171"/>
                    </a:lnTo>
                    <a:lnTo>
                      <a:pt x="68" y="1180"/>
                    </a:lnTo>
                    <a:lnTo>
                      <a:pt x="88" y="1186"/>
                    </a:lnTo>
                    <a:lnTo>
                      <a:pt x="106" y="1188"/>
                    </a:lnTo>
                    <a:lnTo>
                      <a:pt x="124" y="1193"/>
                    </a:lnTo>
                    <a:lnTo>
                      <a:pt x="142" y="1197"/>
                    </a:lnTo>
                    <a:lnTo>
                      <a:pt x="162" y="1198"/>
                    </a:lnTo>
                    <a:lnTo>
                      <a:pt x="182" y="1198"/>
                    </a:lnTo>
                    <a:lnTo>
                      <a:pt x="200" y="1202"/>
                    </a:lnTo>
                    <a:lnTo>
                      <a:pt x="220" y="1202"/>
                    </a:lnTo>
                    <a:lnTo>
                      <a:pt x="252" y="1202"/>
                    </a:lnTo>
                    <a:lnTo>
                      <a:pt x="287" y="1198"/>
                    </a:lnTo>
                    <a:lnTo>
                      <a:pt x="319" y="1193"/>
                    </a:lnTo>
                    <a:lnTo>
                      <a:pt x="354" y="1186"/>
                    </a:lnTo>
                    <a:lnTo>
                      <a:pt x="386" y="1177"/>
                    </a:lnTo>
                    <a:lnTo>
                      <a:pt x="417" y="1168"/>
                    </a:lnTo>
                    <a:lnTo>
                      <a:pt x="447" y="1155"/>
                    </a:lnTo>
                    <a:lnTo>
                      <a:pt x="478" y="1141"/>
                    </a:lnTo>
                    <a:lnTo>
                      <a:pt x="505" y="1126"/>
                    </a:lnTo>
                    <a:lnTo>
                      <a:pt x="536" y="1110"/>
                    </a:lnTo>
                    <a:lnTo>
                      <a:pt x="559" y="1094"/>
                    </a:lnTo>
                    <a:lnTo>
                      <a:pt x="588" y="1074"/>
                    </a:lnTo>
                    <a:lnTo>
                      <a:pt x="613" y="1052"/>
                    </a:lnTo>
                    <a:lnTo>
                      <a:pt x="637" y="1029"/>
                    </a:lnTo>
                    <a:lnTo>
                      <a:pt x="660" y="1007"/>
                    </a:lnTo>
                    <a:lnTo>
                      <a:pt x="682" y="982"/>
                    </a:lnTo>
                    <a:lnTo>
                      <a:pt x="666" y="966"/>
                    </a:lnTo>
                    <a:lnTo>
                      <a:pt x="646" y="955"/>
                    </a:lnTo>
                    <a:lnTo>
                      <a:pt x="626" y="940"/>
                    </a:lnTo>
                    <a:lnTo>
                      <a:pt x="610" y="929"/>
                    </a:lnTo>
                    <a:lnTo>
                      <a:pt x="590" y="922"/>
                    </a:lnTo>
                    <a:lnTo>
                      <a:pt x="574" y="917"/>
                    </a:lnTo>
                    <a:lnTo>
                      <a:pt x="557" y="904"/>
                    </a:lnTo>
                    <a:lnTo>
                      <a:pt x="547" y="893"/>
                    </a:lnTo>
                    <a:lnTo>
                      <a:pt x="547" y="892"/>
                    </a:lnTo>
                    <a:lnTo>
                      <a:pt x="547" y="888"/>
                    </a:lnTo>
                    <a:lnTo>
                      <a:pt x="543" y="888"/>
                    </a:lnTo>
                    <a:lnTo>
                      <a:pt x="543" y="886"/>
                    </a:lnTo>
                    <a:lnTo>
                      <a:pt x="543" y="874"/>
                    </a:lnTo>
                    <a:lnTo>
                      <a:pt x="547" y="863"/>
                    </a:lnTo>
                    <a:lnTo>
                      <a:pt x="547" y="855"/>
                    </a:lnTo>
                    <a:lnTo>
                      <a:pt x="548" y="845"/>
                    </a:lnTo>
                    <a:lnTo>
                      <a:pt x="557" y="819"/>
                    </a:lnTo>
                    <a:lnTo>
                      <a:pt x="567" y="791"/>
                    </a:lnTo>
                    <a:lnTo>
                      <a:pt x="579" y="769"/>
                    </a:lnTo>
                    <a:lnTo>
                      <a:pt x="601" y="753"/>
                    </a:lnTo>
                    <a:lnTo>
                      <a:pt x="613" y="749"/>
                    </a:lnTo>
                    <a:lnTo>
                      <a:pt x="624" y="744"/>
                    </a:lnTo>
                    <a:lnTo>
                      <a:pt x="631" y="742"/>
                    </a:lnTo>
                    <a:lnTo>
                      <a:pt x="642" y="738"/>
                    </a:lnTo>
                    <a:lnTo>
                      <a:pt x="655" y="738"/>
                    </a:lnTo>
                    <a:lnTo>
                      <a:pt x="666" y="736"/>
                    </a:lnTo>
                    <a:lnTo>
                      <a:pt x="673" y="729"/>
                    </a:lnTo>
                    <a:lnTo>
                      <a:pt x="684" y="727"/>
                    </a:lnTo>
                    <a:lnTo>
                      <a:pt x="695" y="727"/>
                    </a:lnTo>
                    <a:lnTo>
                      <a:pt x="704" y="722"/>
                    </a:lnTo>
                    <a:lnTo>
                      <a:pt x="715" y="718"/>
                    </a:lnTo>
                    <a:lnTo>
                      <a:pt x="725" y="713"/>
                    </a:lnTo>
                    <a:lnTo>
                      <a:pt x="736" y="711"/>
                    </a:lnTo>
                    <a:lnTo>
                      <a:pt x="749" y="707"/>
                    </a:lnTo>
                    <a:lnTo>
                      <a:pt x="760" y="707"/>
                    </a:lnTo>
                    <a:lnTo>
                      <a:pt x="770" y="711"/>
                    </a:lnTo>
                    <a:lnTo>
                      <a:pt x="776" y="717"/>
                    </a:lnTo>
                    <a:lnTo>
                      <a:pt x="783" y="722"/>
                    </a:lnTo>
                    <a:lnTo>
                      <a:pt x="792" y="729"/>
                    </a:lnTo>
                    <a:lnTo>
                      <a:pt x="803" y="736"/>
                    </a:lnTo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  <p:sp>
            <p:nvSpPr>
              <p:cNvPr id="21" name="Freeform 27"/>
              <p:cNvSpPr>
                <a:spLocks/>
              </p:cNvSpPr>
              <p:nvPr/>
            </p:nvSpPr>
            <p:spPr bwMode="invGray">
              <a:xfrm>
                <a:off x="530" y="2834"/>
                <a:ext cx="63" cy="73"/>
              </a:xfrm>
              <a:custGeom>
                <a:avLst/>
                <a:gdLst/>
                <a:ahLst/>
                <a:cxnLst>
                  <a:cxn ang="0">
                    <a:pos x="42" y="65"/>
                  </a:cxn>
                  <a:cxn ang="0">
                    <a:pos x="58" y="72"/>
                  </a:cxn>
                  <a:cxn ang="0">
                    <a:pos x="62" y="72"/>
                  </a:cxn>
                  <a:cxn ang="0">
                    <a:pos x="62" y="67"/>
                  </a:cxn>
                  <a:cxn ang="0">
                    <a:pos x="58" y="65"/>
                  </a:cxn>
                  <a:cxn ang="0">
                    <a:pos x="58" y="62"/>
                  </a:cxn>
                  <a:cxn ang="0">
                    <a:pos x="44" y="56"/>
                  </a:cxn>
                  <a:cxn ang="0">
                    <a:pos x="37" y="45"/>
                  </a:cxn>
                  <a:cxn ang="0">
                    <a:pos x="31" y="34"/>
                  </a:cxn>
                  <a:cxn ang="0">
                    <a:pos x="26" y="20"/>
                  </a:cxn>
                  <a:cxn ang="0">
                    <a:pos x="9" y="0"/>
                  </a:cxn>
                  <a:cxn ang="0">
                    <a:pos x="6" y="4"/>
                  </a:cxn>
                  <a:cxn ang="0">
                    <a:pos x="2" y="9"/>
                  </a:cxn>
                  <a:cxn ang="0">
                    <a:pos x="0" y="11"/>
                  </a:cxn>
                  <a:cxn ang="0">
                    <a:pos x="0" y="18"/>
                  </a:cxn>
                  <a:cxn ang="0">
                    <a:pos x="0" y="20"/>
                  </a:cxn>
                  <a:cxn ang="0">
                    <a:pos x="0" y="20"/>
                  </a:cxn>
                  <a:cxn ang="0">
                    <a:pos x="0" y="20"/>
                  </a:cxn>
                  <a:cxn ang="0">
                    <a:pos x="0" y="20"/>
                  </a:cxn>
                  <a:cxn ang="0">
                    <a:pos x="9" y="31"/>
                  </a:cxn>
                  <a:cxn ang="0">
                    <a:pos x="20" y="45"/>
                  </a:cxn>
                  <a:cxn ang="0">
                    <a:pos x="31" y="56"/>
                  </a:cxn>
                  <a:cxn ang="0">
                    <a:pos x="42" y="65"/>
                  </a:cxn>
                </a:cxnLst>
                <a:rect l="0" t="0" r="r" b="b"/>
                <a:pathLst>
                  <a:path w="63" h="73">
                    <a:moveTo>
                      <a:pt x="42" y="65"/>
                    </a:moveTo>
                    <a:lnTo>
                      <a:pt x="58" y="72"/>
                    </a:lnTo>
                    <a:lnTo>
                      <a:pt x="62" y="72"/>
                    </a:lnTo>
                    <a:lnTo>
                      <a:pt x="62" y="67"/>
                    </a:lnTo>
                    <a:lnTo>
                      <a:pt x="58" y="65"/>
                    </a:lnTo>
                    <a:lnTo>
                      <a:pt x="58" y="62"/>
                    </a:lnTo>
                    <a:lnTo>
                      <a:pt x="44" y="56"/>
                    </a:lnTo>
                    <a:lnTo>
                      <a:pt x="37" y="45"/>
                    </a:lnTo>
                    <a:lnTo>
                      <a:pt x="31" y="34"/>
                    </a:lnTo>
                    <a:lnTo>
                      <a:pt x="26" y="20"/>
                    </a:lnTo>
                    <a:lnTo>
                      <a:pt x="9" y="0"/>
                    </a:lnTo>
                    <a:lnTo>
                      <a:pt x="6" y="4"/>
                    </a:lnTo>
                    <a:lnTo>
                      <a:pt x="2" y="9"/>
                    </a:lnTo>
                    <a:lnTo>
                      <a:pt x="0" y="11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9" y="31"/>
                    </a:lnTo>
                    <a:lnTo>
                      <a:pt x="20" y="45"/>
                    </a:lnTo>
                    <a:lnTo>
                      <a:pt x="31" y="56"/>
                    </a:lnTo>
                    <a:lnTo>
                      <a:pt x="42" y="65"/>
                    </a:lnTo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de-DE"/>
              </a:p>
            </p:txBody>
          </p:sp>
        </p:grpSp>
      </p:grpSp>
      <p:sp>
        <p:nvSpPr>
          <p:cNvPr id="3100" name="Rectangle 28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Hier klicken, um Master-Titelformat zu bearbeiten.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0574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Hier klicken, um Master-Untertitelformat zu bearbeiten.</a:t>
            </a:r>
          </a:p>
        </p:txBody>
      </p:sp>
      <p:sp>
        <p:nvSpPr>
          <p:cNvPr id="30" name="Rectangle 30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" name="Rectangle 31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32" name="Rectangle 3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1400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710DF4A-A2DB-49A2-937A-B9E68DA57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blind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36FC2-5551-4920-9964-603C65BFA14C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9821FC-538F-49E3-92E0-9EF945572642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38481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447800"/>
            <a:ext cx="38481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AD5C1-6D04-43EF-94AA-B09397B1326E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8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7606D-1B43-444B-85FC-DC81D3FF7989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FF1E34-EA48-4E24-BD63-6191931B4DDE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3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604F5-1782-4595-99AD-A887F9F9FB4B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23185-9FA0-4A8C-B99C-D71BE6803247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6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D4C5-887B-4DA5-8C80-E5CF70DA60DC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1969F-F580-4036-8569-1ECC18F84F21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152400"/>
            <a:ext cx="19621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57340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1EB90-A149-46AA-A40E-7B4BF532A92C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Ovr>
    <a:masterClrMapping/>
  </p:clrMapOvr>
  <p:transition>
    <p:blind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7848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Hier klicken, um Master-Titelformat zu bearbeiten.</a:t>
            </a:r>
          </a:p>
        </p:txBody>
      </p:sp>
      <p:sp>
        <p:nvSpPr>
          <p:cNvPr id="1027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7848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Hier klicken, um Master-Textformat zu bearbeiten.</a:t>
            </a:r>
          </a:p>
          <a:p>
            <a:pPr lvl="1"/>
            <a:r>
              <a:rPr lang="en-US" smtClean="0"/>
              <a:t>Zweite Ebene</a:t>
            </a:r>
          </a:p>
          <a:p>
            <a:pPr lvl="2"/>
            <a:r>
              <a:rPr lang="en-US" smtClean="0"/>
              <a:t>Dritte Ebene</a:t>
            </a:r>
          </a:p>
          <a:p>
            <a:pPr lvl="3"/>
            <a:r>
              <a:rPr lang="en-US" smtClean="0"/>
              <a:t>Vierte Ebene</a:t>
            </a:r>
          </a:p>
          <a:p>
            <a:pPr lvl="4"/>
            <a:r>
              <a:rPr lang="en-US" smtClean="0"/>
              <a:t>Fünfte Ebene</a:t>
            </a:r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00800"/>
            <a:ext cx="53340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de-DE" smtClean="0"/>
              <a:t>Imperative Programmierung - Übung 11</a:t>
            </a:r>
            <a:endParaRPr lang="en-US"/>
          </a:p>
        </p:txBody>
      </p:sp>
      <p:sp>
        <p:nvSpPr>
          <p:cNvPr id="2069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6400800"/>
            <a:ext cx="19050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fld id="{60CAA96F-992D-4028-9EBF-D97B78349924}" type="slidenum">
              <a:rPr lang="en-US"/>
              <a:pPr>
                <a:defRPr/>
              </a:pPr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blinds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00800"/>
            <a:ext cx="7056784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  <p:sp>
        <p:nvSpPr>
          <p:cNvPr id="30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26885AE-300A-41E7-9BA2-8F73714F80C5}" type="slidenum">
              <a:rPr lang="en-US" smtClean="0"/>
              <a:pPr/>
              <a:t>1</a:t>
            </a:fld>
            <a:endParaRPr lang="en-US" sz="1400" smtClean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610600" cy="1143000"/>
          </a:xfrm>
        </p:spPr>
        <p:txBody>
          <a:bodyPr/>
          <a:lstStyle/>
          <a:p>
            <a:r>
              <a:rPr lang="de-DE" sz="3600" dirty="0" smtClean="0"/>
              <a:t>11.</a:t>
            </a:r>
            <a:r>
              <a:rPr lang="de-DE" sz="3600" dirty="0" smtClean="0">
                <a:solidFill>
                  <a:srgbClr val="00B050"/>
                </a:solidFill>
              </a:rPr>
              <a:t> </a:t>
            </a:r>
            <a:r>
              <a:rPr lang="de-DE" sz="3600" dirty="0" smtClean="0"/>
              <a:t>Übung </a:t>
            </a:r>
            <a:endParaRPr lang="de-DE" dirty="0" smtClean="0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2816"/>
            <a:ext cx="7056784" cy="3600400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lain"/>
            </a:pPr>
            <a:r>
              <a:rPr lang="de-DE" sz="2800" dirty="0" smtClean="0">
                <a:solidFill>
                  <a:srgbClr val="000000"/>
                </a:solidFill>
              </a:rPr>
              <a:t>Auswertung Hausaufgaben</a:t>
            </a:r>
            <a:endParaRPr lang="de-DE" sz="2800" dirty="0" smtClean="0"/>
          </a:p>
          <a:p>
            <a:pPr marL="609600" indent="-609600">
              <a:lnSpc>
                <a:spcPct val="80000"/>
              </a:lnSpc>
              <a:buFontTx/>
              <a:buAutoNum type="arabicPlain"/>
            </a:pPr>
            <a:r>
              <a:rPr lang="de-DE" sz="2800" dirty="0"/>
              <a:t>Tipps zur Hausaufgabenserie </a:t>
            </a:r>
            <a:r>
              <a:rPr lang="de-DE" sz="2800" dirty="0" smtClean="0"/>
              <a:t>Zusatz </a:t>
            </a:r>
            <a:endParaRPr lang="de-DE" sz="2800" dirty="0"/>
          </a:p>
          <a:p>
            <a:pPr marL="609600" indent="-609600">
              <a:lnSpc>
                <a:spcPct val="80000"/>
              </a:lnSpc>
              <a:buFontTx/>
              <a:buAutoNum type="arabicPlain"/>
            </a:pPr>
            <a:r>
              <a:rPr lang="de-DE" sz="2800" dirty="0" smtClean="0"/>
              <a:t>Listen, Formale Spezifikationen, Realisierungsmöglichkeiten</a:t>
            </a:r>
          </a:p>
          <a:p>
            <a:pPr marL="609600" indent="-609600">
              <a:lnSpc>
                <a:spcPct val="80000"/>
              </a:lnSpc>
              <a:buFontTx/>
              <a:buAutoNum type="arabicPlain"/>
            </a:pPr>
            <a:r>
              <a:rPr lang="de-DE" sz="2800" dirty="0" smtClean="0"/>
              <a:t>Alte Klausuraufgabe</a:t>
            </a:r>
          </a:p>
          <a:p>
            <a:pPr marL="609600" indent="-609600">
              <a:lnSpc>
                <a:spcPct val="80000"/>
              </a:lnSpc>
              <a:buFontTx/>
              <a:buAutoNum type="arabicPlain"/>
            </a:pPr>
            <a:r>
              <a:rPr lang="de-DE" sz="2800" dirty="0" smtClean="0"/>
              <a:t>Übungen     </a:t>
            </a:r>
          </a:p>
          <a:p>
            <a:pPr marL="609600" indent="-609600">
              <a:lnSpc>
                <a:spcPct val="80000"/>
              </a:lnSpc>
              <a:buFontTx/>
              <a:buAutoNum type="arabicPlain"/>
            </a:pPr>
            <a:r>
              <a:rPr lang="de-DE" sz="2800" dirty="0" smtClean="0"/>
              <a:t>Lösungen zu 5 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1052736"/>
            <a:ext cx="8686800" cy="403187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1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. 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Schreiben Sie ein rekursives Programm, das alle Permutationen von n Elementen ausgibt. (D.h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., alle 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möglichen unterschiedlichen Reihenfolgen der Elemente.) Das Programm soll die Zahl 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n als 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Kommandozeilenargument akzeptieren (Sie können die Methode hierfür von </a:t>
            </a:r>
            <a:r>
              <a:rPr lang="de-DE" sz="1600" i="1" dirty="0" err="1">
                <a:latin typeface="+mn-lt"/>
                <a:cs typeface="Times New Roman" panose="02020603050405020304" pitchFamily="18" charset="0"/>
              </a:rPr>
              <a:t>hanoi.c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 kopieren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). Sie 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können davon ausgehen, dass n nicht größer als 26 ist, so dass Sie die 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Elemente mit 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Buchstaben bezeichnen können. Ihr Programm soll damit beispielsweise folgende 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Ausgabe liefern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: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$ ./</a:t>
            </a:r>
            <a:r>
              <a:rPr lang="de-DE" sz="1600" i="1" dirty="0" err="1">
                <a:latin typeface="+mn-lt"/>
                <a:cs typeface="Times New Roman" panose="02020603050405020304" pitchFamily="18" charset="0"/>
              </a:rPr>
              <a:t>perm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 3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1: ABC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2: BAC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3: CAB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4: ACB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5: BCA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6: CBA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6 </a:t>
            </a:r>
            <a:r>
              <a:rPr lang="de-DE" sz="1600" i="1" dirty="0" err="1">
                <a:latin typeface="+mn-lt"/>
                <a:cs typeface="Times New Roman" panose="02020603050405020304" pitchFamily="18" charset="0"/>
              </a:rPr>
              <a:t>permutations</a:t>
            </a:r>
            <a:endParaRPr lang="de-DE" sz="16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$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Tipp: </a:t>
            </a:r>
            <a:r>
              <a:rPr lang="de-DE" sz="1600" i="1" dirty="0" err="1">
                <a:latin typeface="+mn-lt"/>
                <a:cs typeface="Times New Roman" panose="02020603050405020304" pitchFamily="18" charset="0"/>
              </a:rPr>
              <a:t>Heap’s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Algorithmus. (12 Punkte )</a:t>
            </a:r>
          </a:p>
        </p:txBody>
      </p:sp>
    </p:spTree>
    <p:extLst>
      <p:ext uri="{BB962C8B-B14F-4D97-AF65-F5344CB8AC3E}">
        <p14:creationId xmlns:p14="http://schemas.microsoft.com/office/powerpoint/2010/main" val="2147462756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3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02578"/>
            <a:ext cx="8686800" cy="393954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457200" indent="-457200"/>
            <a:r>
              <a:rPr lang="de-DE" sz="1800" dirty="0" smtClean="0">
                <a:latin typeface="+mn-lt"/>
                <a:cs typeface="Consolas" panose="020B0609020204030204" pitchFamily="49" charset="0"/>
              </a:rPr>
              <a:t>https</a:t>
            </a:r>
            <a:r>
              <a:rPr lang="de-DE" sz="1800" dirty="0">
                <a:latin typeface="+mn-lt"/>
                <a:cs typeface="Consolas" panose="020B0609020204030204" pitchFamily="49" charset="0"/>
              </a:rPr>
              <a:t>://</a:t>
            </a:r>
            <a:r>
              <a:rPr lang="de-DE" sz="1800" dirty="0" smtClean="0">
                <a:latin typeface="+mn-lt"/>
                <a:cs typeface="Consolas" panose="020B0609020204030204" pitchFamily="49" charset="0"/>
              </a:rPr>
              <a:t>en.wikipedia.org/wiki/Heap's_algorithm</a:t>
            </a:r>
          </a:p>
          <a:p>
            <a:pPr marL="457200" indent="-457200"/>
            <a:endParaRPr lang="de-DE" sz="800" dirty="0">
              <a:latin typeface="+mn-lt"/>
              <a:cs typeface="Consolas" panose="020B0609020204030204" pitchFamily="49" charset="0"/>
            </a:endParaRP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procedure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 : integer, A : array of any):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n = 1 then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output(A)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:= 0;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 - 1;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+= 1 do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generate(n - 1, A)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n is even then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swap(A[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], A[n-1])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else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swap(A[0], A[n-1])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end if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end for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generate(n - 1, A)</a:t>
            </a:r>
          </a:p>
          <a:p>
            <a:pPr marL="457200" indent="-457200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end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414088151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4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1052736"/>
            <a:ext cx="8686800" cy="50783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de-DE" sz="1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[] = "ABCDEFGHIJKLMNOPQRSTUVWXYZ";</a:t>
            </a:r>
          </a:p>
          <a:p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de-DE" sz="1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200" b="1" i="1" dirty="0" err="1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*x,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*y) {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= *x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; *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x = *y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; *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y =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ausgabe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a[]){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("%d: %s\n",++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np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2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de-DE" sz="1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200" b="1" i="1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n,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a[]) {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i;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if(n==1)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ausgabe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(a); 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de-DE" sz="12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("%d: %s\n",++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np,elems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); */</a:t>
            </a:r>
            <a:endParaRPr lang="de-DE" sz="1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(i=0;i &lt; (n-1);i++) {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(n-1, a);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	if (n%2==0) 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[i],&amp;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[n-1]);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	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	    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[0],&amp;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[n-1]);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(n-1, a);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63928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5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1052736"/>
            <a:ext cx="8686800" cy="230832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 i="1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argc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[]) {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n;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if(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argc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&lt; 2 || (n =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atoi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[1])) &lt; 0) {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Usage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: %s &lt;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-elements&gt;\n",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[0]);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-1;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[n] = '\0';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n,elems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("%d 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permutations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\n",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np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r>
              <a:rPr lang="de-DE" sz="1200" i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34613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6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1052736"/>
            <a:ext cx="8686800" cy="569386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i="1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Musterloesung</a:t>
            </a:r>
            <a:r>
              <a:rPr lang="de-DE" sz="1200" i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 Prof Kirste:</a:t>
            </a:r>
          </a:p>
          <a:p>
            <a:r>
              <a:rPr lang="en-US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char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[] = "ABCDEFGHIJKLMNOPQRSTUVWXYZ";</a:t>
            </a:r>
          </a:p>
          <a:p>
            <a:r>
              <a:rPr lang="en-US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np=0;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1100" b="1" dirty="0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j)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char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[j];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[j]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sz="1100" b="1" dirty="0">
                <a:latin typeface="Consolas" panose="020B0609020204030204" pitchFamily="49" charset="0"/>
                <a:cs typeface="Consolas" panose="020B0609020204030204" pitchFamily="49" charset="0"/>
              </a:rPr>
              <a:t>perm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n)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if(n==0)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("%d: %s\n",++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np,elems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else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	perm(n-1);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	for(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=n-2;i&gt;=0;--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		swap(i,n-1);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		perm(n-1);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		swap(i,n-1);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main(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argc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, char *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[])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n;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if(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argc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&lt; 2 || (n = 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atoi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[1])) &lt; 0) {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("Usage: %s &lt;number‐of‐elements&gt;\n",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[0]);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return 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-1;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elems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[n] = '\0';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perm(n);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("%d permutations\</a:t>
            </a:r>
            <a:r>
              <a:rPr lang="en-US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n",np</a:t>
            </a:r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	return 0;</a:t>
            </a:r>
          </a:p>
          <a:p>
            <a:r>
              <a:rPr 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664434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7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1052736"/>
            <a:ext cx="8686800" cy="230832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2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. 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Sortieren. Entwickeln Sie eine Funktion zum Sortieren eines Feldes von Zahlen mit Hilfe der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Funktion </a:t>
            </a:r>
            <a:r>
              <a:rPr lang="de-DE" sz="1600" i="1" dirty="0" err="1">
                <a:latin typeface="+mn-lt"/>
                <a:cs typeface="Times New Roman" panose="02020603050405020304" pitchFamily="18" charset="0"/>
              </a:rPr>
              <a:t>swap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 aus der Vorlesung.</a:t>
            </a: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Die Idee ist einfach:</a:t>
            </a:r>
          </a:p>
          <a:p>
            <a:pPr lvl="1"/>
            <a:r>
              <a:rPr lang="de-DE" sz="1600" i="1" dirty="0">
                <a:latin typeface="+mn-lt"/>
                <a:cs typeface="Times New Roman" panose="02020603050405020304" pitchFamily="18" charset="0"/>
              </a:rPr>
              <a:t>• Wenn zwei benachbarte Zahlen im Feld in der falschen Reihenfolge sind, dann werden 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diese vertauscht</a:t>
            </a:r>
            <a:r>
              <a:rPr lang="de-DE" sz="1600" i="1" dirty="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de-DE" sz="1600" i="1" dirty="0">
                <a:latin typeface="+mn-lt"/>
                <a:cs typeface="Times New Roman" panose="02020603050405020304" pitchFamily="18" charset="0"/>
              </a:rPr>
              <a:t>• Dies machen Sie so lange, bis keine Vertauschungen mehr erforderlich sind</a:t>
            </a:r>
            <a:r>
              <a:rPr lang="de-DE" sz="1600" i="1" dirty="0" smtClean="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/>
            <a:endParaRPr lang="de-DE" sz="1600" i="1" dirty="0">
              <a:latin typeface="+mn-lt"/>
              <a:cs typeface="Times New Roman" panose="02020603050405020304" pitchFamily="18" charset="0"/>
            </a:endParaRPr>
          </a:p>
          <a:p>
            <a:pPr lvl="1"/>
            <a:endParaRPr lang="de-DE" sz="16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600" i="1" dirty="0">
                <a:latin typeface="+mn-lt"/>
                <a:cs typeface="Times New Roman" panose="02020603050405020304" pitchFamily="18" charset="0"/>
              </a:rPr>
              <a:t>15 Punkte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72225669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8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1052736"/>
            <a:ext cx="8686800" cy="526297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#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include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&lt;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stdio.h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&gt;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#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include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&lt;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stdlib.h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&gt;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#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include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&lt;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math.h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&gt;</a:t>
            </a:r>
          </a:p>
          <a:p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#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define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NMAX 20</a:t>
            </a:r>
          </a:p>
          <a:p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nswap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; /* zum 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zaehlen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 der Vertauschungen */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ff[NMAX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]; / * globales Array als bekannt benutzen */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void </a:t>
            </a:r>
            <a:r>
              <a:rPr lang="de-DE" sz="1200" b="1" i="1" dirty="0" err="1">
                <a:latin typeface="+mn-lt"/>
                <a:cs typeface="Times New Roman" panose="02020603050405020304" pitchFamily="18" charset="0"/>
              </a:rPr>
              <a:t>init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i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nswap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=0;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for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(i=0;i&lt;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NMAX;i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++)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ff[i] =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rand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();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}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void </a:t>
            </a:r>
            <a:r>
              <a:rPr lang="de-DE" sz="1200" b="1" i="1" dirty="0" err="1">
                <a:latin typeface="+mn-lt"/>
                <a:cs typeface="Times New Roman" panose="02020603050405020304" pitchFamily="18" charset="0"/>
              </a:rPr>
              <a:t>ausgabe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() 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{ /*  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Schoene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 Ausgabe 10 Zahlen in einer Reihe */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i;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j=0;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for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(i=0;i&lt;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NMAX;i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++)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printf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("%9d, ", ff[i]);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	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j++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	if(j==10)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		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printf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("\n");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		j=0;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	}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}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printf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("\n\n\n");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}</a:t>
            </a:r>
          </a:p>
          <a:p>
            <a:endParaRPr lang="de-DE" sz="1200" i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383856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9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251520" y="896330"/>
            <a:ext cx="8686800" cy="600164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void </a:t>
            </a:r>
            <a:r>
              <a:rPr lang="de-DE" sz="1200" b="1" i="1" dirty="0" err="1">
                <a:latin typeface="+mn-lt"/>
                <a:cs typeface="Times New Roman" panose="02020603050405020304" pitchFamily="18" charset="0"/>
              </a:rPr>
              <a:t>swap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*a,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*b)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tmp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;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tmp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= *a;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*a = *b;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*b =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tmp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nswap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++;</a:t>
            </a:r>
          </a:p>
          <a:p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}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void </a:t>
            </a:r>
            <a:r>
              <a:rPr lang="de-DE" sz="1200" b="1" i="1" dirty="0" err="1">
                <a:latin typeface="+mn-lt"/>
                <a:cs typeface="Times New Roman" panose="02020603050405020304" pitchFamily="18" charset="0"/>
              </a:rPr>
              <a:t>sort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swapped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= 1, i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;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while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swapped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) 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{ /* Solange bis keine Vertauschung aufgetreten ist */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swapped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=0;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for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(i=0;i&lt;(NMAX-1);i++)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  if(ff[i] &gt; ff[i+1])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	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swapped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= 1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; /* Vertauschung, deshalb noch ein Durchlauf */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	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swap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(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ff+i,ff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+(i+1));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  }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}</a:t>
            </a:r>
          </a:p>
          <a:p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}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b="1" i="1" dirty="0" err="1">
                <a:latin typeface="+mn-lt"/>
                <a:cs typeface="Times New Roman" panose="02020603050405020304" pitchFamily="18" charset="0"/>
              </a:rPr>
              <a:t>main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argc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char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*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argv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[])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i, r;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r =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atoi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argv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[1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]);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printf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(" %d 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Versuche zum testen des Programmes \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n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",r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);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for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(i=0;i&lt;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r;i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++) {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init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();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     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ausgabe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();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  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sort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();</a:t>
            </a:r>
          </a:p>
          <a:p>
            <a:r>
              <a:rPr lang="de-DE" sz="1200" i="1" dirty="0" smtClean="0">
                <a:cs typeface="Times New Roman" panose="02020603050405020304" pitchFamily="18" charset="0"/>
              </a:rPr>
              <a:t>      </a:t>
            </a:r>
            <a:r>
              <a:rPr lang="de-DE" sz="1200" i="1" dirty="0" err="1" smtClean="0">
                <a:cs typeface="Times New Roman" panose="02020603050405020304" pitchFamily="18" charset="0"/>
              </a:rPr>
              <a:t>printf</a:t>
            </a:r>
            <a:r>
              <a:rPr lang="de-DE" sz="1200" i="1" dirty="0">
                <a:cs typeface="Times New Roman" panose="02020603050405020304" pitchFamily="18" charset="0"/>
              </a:rPr>
              <a:t>(" %d </a:t>
            </a:r>
            <a:r>
              <a:rPr lang="de-DE" sz="1200" i="1" dirty="0" smtClean="0">
                <a:cs typeface="Times New Roman" panose="02020603050405020304" pitchFamily="18" charset="0"/>
              </a:rPr>
              <a:t>Vertauschungen notwendig\</a:t>
            </a:r>
            <a:r>
              <a:rPr lang="de-DE" sz="1200" i="1" dirty="0" err="1" smtClean="0">
                <a:cs typeface="Times New Roman" panose="02020603050405020304" pitchFamily="18" charset="0"/>
              </a:rPr>
              <a:t>n</a:t>
            </a:r>
            <a:r>
              <a:rPr lang="de-DE" sz="1200" i="1" dirty="0" err="1">
                <a:cs typeface="Times New Roman" panose="02020603050405020304" pitchFamily="18" charset="0"/>
              </a:rPr>
              <a:t>",r</a:t>
            </a:r>
            <a:r>
              <a:rPr lang="de-DE" sz="1200" i="1" dirty="0">
                <a:cs typeface="Times New Roman" panose="02020603050405020304" pitchFamily="18" charset="0"/>
              </a:rPr>
              <a:t>);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      </a:t>
            </a:r>
            <a:r>
              <a:rPr lang="de-DE" sz="1200" i="1" dirty="0" err="1" smtClean="0">
                <a:latin typeface="+mn-lt"/>
                <a:cs typeface="Times New Roman" panose="02020603050405020304" pitchFamily="18" charset="0"/>
              </a:rPr>
              <a:t>ausgabe</a:t>
            </a:r>
            <a:r>
              <a:rPr lang="de-DE" sz="1200" i="1" dirty="0" smtClean="0">
                <a:latin typeface="+mn-lt"/>
                <a:cs typeface="Times New Roman" panose="02020603050405020304" pitchFamily="18" charset="0"/>
              </a:rPr>
              <a:t>();   </a:t>
            </a:r>
            <a:endParaRPr lang="de-DE" sz="1200" i="1" dirty="0">
              <a:latin typeface="+mn-lt"/>
              <a:cs typeface="Times New Roman" panose="02020603050405020304" pitchFamily="18" charset="0"/>
            </a:endParaRP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}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  </a:t>
            </a:r>
            <a:r>
              <a:rPr lang="de-DE" sz="1200" i="1" dirty="0" err="1">
                <a:latin typeface="+mn-lt"/>
                <a:cs typeface="Times New Roman" panose="02020603050405020304" pitchFamily="18" charset="0"/>
              </a:rPr>
              <a:t>return</a:t>
            </a:r>
            <a:r>
              <a:rPr lang="de-DE" sz="1200" i="1" dirty="0">
                <a:latin typeface="+mn-lt"/>
                <a:cs typeface="Times New Roman" panose="02020603050405020304" pitchFamily="18" charset="0"/>
              </a:rPr>
              <a:t> 0;</a:t>
            </a:r>
          </a:p>
          <a:p>
            <a:r>
              <a:rPr lang="de-DE" sz="1200" i="1" dirty="0">
                <a:latin typeface="+mn-lt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209559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10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251520" y="896330"/>
            <a:ext cx="8686800" cy="51706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/* alternative Version */</a:t>
            </a: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*a,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*b) {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= *a;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a = *b;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b="1" dirty="0">
                <a:latin typeface="Consolas" panose="020B0609020204030204" pitchFamily="49" charset="0"/>
                <a:cs typeface="Consolas" panose="020B0609020204030204" pitchFamily="49" charset="0"/>
              </a:rPr>
              <a:t>sortiere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a[],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n) {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swapped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= 1; /* Tausch durchgeführt oder nicht */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i; /* Schleifenzähler */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swapped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== 1) {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swapped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(i = 0; i &lt; n - 1; i++) {     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/* Vergleiche aktuelles Element mit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Folgelement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*/  </a:t>
            </a: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(a[i] &gt; a[i + 1]) {         /*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Nutzung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der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Funktion zum Tausch der Elemente */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swap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(&amp;a[i], &amp;a[i + 1]);  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 	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swapped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= 1; /* Tausch durchgeführt */    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 }   </a:t>
            </a: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}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() {  /* Test-Array */ 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a[] = {3, 2, 8, 1, 9, 7, 0, 5, 4, 6}; /* unsortiertes Array */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(a) /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); /* Anzahl Elemente */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i; /* Schleifenzähler */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("Unsortiert: ");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(i = 0; i &lt;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; i++) 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("%d ", a[i]);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sortiere(a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); /* rufe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Soritierfunktion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mit Test-Array auf */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("\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nSortiert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:   ");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(i = 0; i &lt;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; i++)   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("%d ", a[i]);	</a:t>
            </a:r>
            <a:endParaRPr lang="de-DE" sz="10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4816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11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Text Box 3"/>
              <p:cNvSpPr txBox="1">
                <a:spLocks noChangeArrowheads="1"/>
              </p:cNvSpPr>
              <p:nvPr/>
            </p:nvSpPr>
            <p:spPr bwMode="auto">
              <a:xfrm>
                <a:off x="323528" y="953864"/>
                <a:ext cx="8686800" cy="5196744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r>
                  <a:rPr lang="de-DE" sz="1600" dirty="0"/>
                  <a:t>4</a:t>
                </a:r>
                <a:r>
                  <a:rPr lang="de-DE" sz="1600" dirty="0" smtClean="0"/>
                  <a:t>. Schreiben Sie ein Programm, das Text in „Pseudo-Englisch“ erzeugen kann. Dazu gehen Sie folgendermaßen </a:t>
                </a:r>
                <a:r>
                  <a:rPr lang="de-DE" sz="1600" dirty="0"/>
                  <a:t>vor:</a:t>
                </a:r>
              </a:p>
              <a:p>
                <a:r>
                  <a:rPr lang="de-DE" sz="1600" dirty="0"/>
                  <a:t>• Bauen Sie ein dreidimensionales Feld auf, das für jedes Zeichen c (Buchstaben sowie </a:t>
                </a:r>
                <a:r>
                  <a:rPr lang="de-DE" sz="1600" dirty="0" smtClean="0"/>
                  <a:t>Leerzeichen, Komma</a:t>
                </a:r>
                <a:r>
                  <a:rPr lang="de-DE" sz="1600" dirty="0"/>
                  <a:t>, und Punkt) die bedingte Wahrscheinlichkeit beinhaltet, dass das </a:t>
                </a:r>
                <a:r>
                  <a:rPr lang="de-DE" sz="1600" dirty="0" smtClean="0"/>
                  <a:t>Zeichen c </a:t>
                </a:r>
                <a:r>
                  <a:rPr lang="de-DE" sz="1600" dirty="0"/>
                  <a:t>auf die Zeichen a und b folgt.</a:t>
                </a:r>
              </a:p>
              <a:p>
                <a:r>
                  <a:rPr lang="de-DE" sz="1600" dirty="0"/>
                  <a:t>Diese Tabelle können Sie beispielsweise durch die Analyse von Herman Melvilles „Moby</a:t>
                </a:r>
              </a:p>
              <a:p>
                <a:r>
                  <a:rPr lang="de-DE" sz="1600" dirty="0"/>
                  <a:t>Dick“ erzeugen. (Geben Sie an, woher Sie den Text haben</a:t>
                </a:r>
                <a:r>
                  <a:rPr lang="de-DE" sz="1600" dirty="0" smtClean="0"/>
                  <a:t>!) (10 Punkte )</a:t>
                </a:r>
                <a:endParaRPr lang="de-DE" sz="1600" dirty="0"/>
              </a:p>
              <a:p>
                <a:r>
                  <a:rPr lang="de-DE" sz="1600" dirty="0"/>
                  <a:t>• Entwickeln Sie ein Verfahren, mit dem Sie aus einem Vektor von Werten (</a:t>
                </a:r>
                <a:r>
                  <a:rPr lang="de-DE" sz="1600" dirty="0" smtClean="0"/>
                  <a:t>v</a:t>
                </a:r>
                <a:r>
                  <a:rPr lang="de-DE" sz="1600" baseline="-25000" dirty="0" smtClean="0"/>
                  <a:t>1</a:t>
                </a:r>
                <a:r>
                  <a:rPr lang="de-DE" sz="1600" dirty="0" smtClean="0"/>
                  <a:t>, ... , v</a:t>
                </a:r>
                <a:r>
                  <a:rPr lang="de-DE" sz="1600" baseline="-25000" dirty="0" smtClean="0"/>
                  <a:t>n</a:t>
                </a:r>
                <a:r>
                  <a:rPr lang="de-DE" sz="1600" dirty="0"/>
                  <a:t>), für</a:t>
                </a:r>
              </a:p>
              <a:p>
                <a:r>
                  <a:rPr lang="de-DE" sz="1600" dirty="0"/>
                  <a:t>die Sie einen Vektor von Wahrscheinlichkeiten (</a:t>
                </a:r>
                <a:r>
                  <a:rPr lang="de-DE" sz="1600" dirty="0" smtClean="0"/>
                  <a:t>p</a:t>
                </a:r>
                <a:r>
                  <a:rPr lang="de-DE" sz="1600" baseline="-25000" dirty="0" smtClean="0"/>
                  <a:t>1</a:t>
                </a:r>
                <a:r>
                  <a:rPr lang="de-DE" sz="1600" dirty="0" smtClean="0"/>
                  <a:t>, ... , p</a:t>
                </a:r>
                <a:r>
                  <a:rPr lang="de-DE" sz="1600" baseline="-25000" dirty="0" smtClean="0"/>
                  <a:t>n</a:t>
                </a:r>
                <a:r>
                  <a:rPr lang="de-DE" sz="1600" dirty="0"/>
                  <a:t>) gegeben haben, einen Wert v</a:t>
                </a:r>
                <a:r>
                  <a:rPr lang="de-DE" sz="1600" baseline="-25000" dirty="0"/>
                  <a:t>i</a:t>
                </a:r>
              </a:p>
              <a:p>
                <a:r>
                  <a:rPr lang="de-DE" sz="1600" dirty="0"/>
                  <a:t>zufällig wählen können, so dass die Wahrscheinlichkeit, dass Sie v</a:t>
                </a:r>
                <a:r>
                  <a:rPr lang="de-DE" sz="1600" baseline="-25000" dirty="0"/>
                  <a:t>i</a:t>
                </a:r>
                <a:r>
                  <a:rPr lang="de-DE" sz="1600" dirty="0"/>
                  <a:t> bekommen eben genau</a:t>
                </a:r>
              </a:p>
              <a:p>
                <a:r>
                  <a:rPr lang="de-DE" sz="1600" dirty="0"/>
                  <a:t>p</a:t>
                </a:r>
                <a:r>
                  <a:rPr lang="de-DE" sz="1600" baseline="-25000" dirty="0"/>
                  <a:t>i</a:t>
                </a:r>
                <a:r>
                  <a:rPr lang="de-DE" sz="1600" dirty="0"/>
                  <a:t> entspricht. Sie können davon ausgehen, dass gilt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6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16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1600" dirty="0" smtClean="0"/>
              </a:p>
              <a:p>
                <a:r>
                  <a:rPr lang="de-DE" sz="1600" dirty="0" smtClean="0"/>
                  <a:t>10 </a:t>
                </a:r>
                <a:r>
                  <a:rPr lang="de-DE" sz="1600" dirty="0"/>
                  <a:t>Punkte</a:t>
                </a:r>
              </a:p>
              <a:p>
                <a:r>
                  <a:rPr lang="de-DE" sz="1600" dirty="0"/>
                  <a:t>• Erzeugen Sie mit Hilfe des dreidimensionalen Feldes einen Zufallstext dadurch, dass Sie </a:t>
                </a:r>
                <a:r>
                  <a:rPr lang="de-DE" sz="1600" dirty="0" smtClean="0"/>
                  <a:t>sich jeweils </a:t>
                </a:r>
                <a:r>
                  <a:rPr lang="de-DE" sz="1600" dirty="0"/>
                  <a:t>die beiden zuletzt generierten Zeichen a und b merken und dann ein neues </a:t>
                </a:r>
                <a:r>
                  <a:rPr lang="de-DE" sz="1600" dirty="0" smtClean="0"/>
                  <a:t>Zeichen c </a:t>
                </a:r>
                <a:r>
                  <a:rPr lang="de-DE" sz="1600" dirty="0"/>
                  <a:t>zufällig wählen, wobei Sie die Wahrscheinlichkeit eines bestimmten Zeichens c </a:t>
                </a:r>
                <a:r>
                  <a:rPr lang="de-DE" sz="1600" dirty="0" smtClean="0"/>
                  <a:t>gegeben die </a:t>
                </a:r>
                <a:r>
                  <a:rPr lang="de-DE" sz="1600" dirty="0"/>
                  <a:t>Vorgänger a und b aus dem Feld entnehmen. Um das erste Zeichen zu erzeugen </a:t>
                </a:r>
                <a:r>
                  <a:rPr lang="de-DE" sz="1600" dirty="0" smtClean="0"/>
                  <a:t>können Sie </a:t>
                </a:r>
                <a:r>
                  <a:rPr lang="de-DE" sz="1600" dirty="0"/>
                  <a:t>annehmen dass die Vorgängerzeichen der Punkt und das Leerzeichen sind.</a:t>
                </a:r>
              </a:p>
              <a:p>
                <a:r>
                  <a:rPr lang="de-DE" sz="1600" dirty="0"/>
                  <a:t>10 Punkte</a:t>
                </a:r>
                <a:endParaRPr lang="de-DE" sz="1600" i="1" dirty="0">
                  <a:latin typeface="+mn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70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953864"/>
                <a:ext cx="8686800" cy="5196744"/>
              </a:xfrm>
              <a:prstGeom prst="rect">
                <a:avLst/>
              </a:prstGeom>
              <a:blipFill rotWithShape="0">
                <a:blip r:embed="rId3"/>
                <a:stretch>
                  <a:fillRect l="-351" t="-352" r="-842" b="-586"/>
                </a:stretch>
              </a:blipFill>
              <a:ln w="12700" cap="sq">
                <a:noFill/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331616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12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56323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Lösung Prof Kirste: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ctype.h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a..z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+ SPACE + COLON + STOP */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N 29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C_SPACE 26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C_COMMA 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27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C_STOP 28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drand48()(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rand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()*(1.0/RAND_MAX))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[]="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abcdefghijklmnopqrstuvwxyz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,.?";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[N][N][N];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[N][N];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double F;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 /* siehe Aufgabe 3 </a:t>
            </a:r>
            <a:r>
              <a:rPr lang="de-DE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liest ein Zeichen ein, wobei Leer- und Trennzeichen überlesen und nur ein Leerzeichen </a:t>
            </a:r>
            <a:r>
              <a:rPr lang="de-DE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beruecksichtigt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wird */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c,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haveSpace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isspace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(c=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())) 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haveSpace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if(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haveSpace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ungetc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c,stdin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),C_SPACE);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if(c&gt;='a' &amp;&amp; c&lt;='z')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c-'a';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if(c&gt;='A' &amp;&amp; c&lt;='Z')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c-'A';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if(c==',')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C_COMMA;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if(c=='.')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C_STOP;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if(c==EOF)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EOF;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22818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13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544764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Lösung Prof Kirste: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fcount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a, b, c;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(a=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(),b=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(),c=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 c!=EOF; a=b, b=c, c=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()){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[a][b][c]++;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[a][b]++;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F++;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stderr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,"%f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triples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collected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n",F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(a=0;a&lt;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N;a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(b=0;b&lt;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N;b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	if(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 &gt; 0.0) // Es gibt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unmoegliche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Kombinationen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(c=0;c&lt;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N;c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[a][b][c] /=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(int n)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a, b, c;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double s, r;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(a=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C_STOP,b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=C_SPACE; n; a=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b,b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c,n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--)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( s=0,r=drand48(),</a:t>
            </a:r>
            <a:r>
              <a:rPr lang="de-DE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c=0; s</a:t>
            </a:r>
            <a:r>
              <a:rPr lang="de-D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[a][b][c],</a:t>
            </a:r>
            <a:r>
              <a:rPr lang="de-DE" sz="12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s&lt;r; </a:t>
            </a:r>
            <a:r>
              <a:rPr lang="de-DE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) 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putchar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[c]);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[])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fcount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atoi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[1]));</a:t>
            </a:r>
          </a:p>
          <a:p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453983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14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470898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Lösung 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Übung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ctype.h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time.h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a..z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+ SPACE + COLON + STOP*/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N 29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C_SPACE 26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C_COMMA 27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C_STOP 28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C_EXCLAMATION 29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C_QUESTION 30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define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drand48()(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rand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()*(1.0 /RAND_MAX	))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[] = "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abcdefghijklmnopqrstuvwxyz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,.!?:;";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[N][N][N];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[N][N];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double F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possiblechar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(int c)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if(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isalpha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(c)||c=='.'||c==','||c=='!'||c=='?')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1 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6356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15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563231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Lösung 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Übung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c,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(((c =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()) != EOF) &amp;&amp; (!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possiblechar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(c)))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&gt; 0) { // letztes Zeichen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zurueckschieben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ungetc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(c,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stdin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C_SPACE; // Ein Leerzeichen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zaehlen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}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{ // Zeichen auswerten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if (c &gt;= 'a'&amp;&amp;c &lt;= 'z')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 - 'a';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 (c &gt;= 'A'&amp;&amp;c &lt;= 'Z')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 - 'A';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 (c == ',')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C_COMMA;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if (c == '.')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C_STOP;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EOF; // war wohl EOF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maxIndex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 double *f){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i, k;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double m = f[0];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k = 0;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(i=0; i&lt;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N;i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++){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if(f[i]&gt;m)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m = f[i];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k = i;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k;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102076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16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41549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Lösung 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Übung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fcount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a, b, c;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a =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b =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(c =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 c != EOF; c =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getcc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[a][b][c]++;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[a][b]++;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F++;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a = b;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b = c;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("%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ftriples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collected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\n", F);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// Jetzt Berechnung relativer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Haeufigkeiten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Ha Teil 1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(a = 0; a&lt;N; a++)</a:t>
            </a:r>
          </a:p>
          <a:p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(b = 0; b&lt;N; b++)</a:t>
            </a:r>
          </a:p>
          <a:p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if (</a:t>
            </a:r>
            <a:r>
              <a:rPr lang="de-DE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[a][b] &gt; 0.0) {</a:t>
            </a:r>
          </a:p>
          <a:p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de-DE" sz="12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/*Es 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gibt </a:t>
            </a:r>
            <a:r>
              <a:rPr lang="de-DE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unmoegliche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Kombinationen */</a:t>
            </a:r>
            <a:endParaRPr lang="de-DE" sz="12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 = 0; c &lt; N; </a:t>
            </a:r>
            <a:r>
              <a:rPr lang="de-DE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de-DE" sz="12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[a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][b][c] /= </a:t>
            </a:r>
            <a:r>
              <a:rPr lang="de-DE" sz="12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[a][b];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00842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17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544764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Lösung :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(int n)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a, b, c, k;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int p = 0;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double s, r;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(a = C_STOP, b = C_SPACE; n &gt;= 0; a = b, b = c, n--)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p = 0;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(s = 0, r = drand48(), c = </a:t>
            </a:r>
            <a:r>
              <a:rPr lang="de-DE" sz="12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</a:t>
            </a:r>
            <a:r>
              <a:rPr lang="de-DE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()%N; s&lt;r; c=(c+1)%N)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/*</a:t>
            </a:r>
            <a:r>
              <a:rPr lang="de-DE" sz="12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(s = 0, r = drand48(), c = 0; s&lt;r;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)	</a:t>
            </a:r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{ */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if ((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 != 0) &amp;&amp; ((s +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[a][b][c])&lt;r))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	s +=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[a][b][c];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	break;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	p = 1;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	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/* 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(p==1) 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putchar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[c]);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int k = </a:t>
            </a:r>
            <a:r>
              <a:rPr lang="de-DE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maxIndex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Pc_ab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[a][b]);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putchar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[k]);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c = k;</a:t>
            </a:r>
          </a:p>
          <a:p>
            <a:r>
              <a:rPr lang="de-DE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}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*/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putchar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chars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[c]);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82196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18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/>
              <a:t>1. Auswertung Hausaufgabenserie </a:t>
            </a:r>
            <a:r>
              <a:rPr lang="de-DE" sz="3600" dirty="0" smtClean="0"/>
              <a:t>4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249299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200" dirty="0" smtClean="0">
                <a:latin typeface="Consolas" panose="020B0609020204030204" pitchFamily="49" charset="0"/>
                <a:cs typeface="Consolas" panose="020B0609020204030204" pitchFamily="49" charset="0"/>
              </a:rPr>
              <a:t>Lösung :</a:t>
            </a: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argc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** 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srand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(time(NULL));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rand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rand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cc;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fcount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generate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atoi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[1]));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r>
              <a:rPr lang="de-D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563310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19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2. Ideen Hausaufgabenserie </a:t>
            </a:r>
            <a:r>
              <a:rPr lang="de-DE" sz="3600" dirty="0"/>
              <a:t>5</a:t>
            </a:r>
            <a:r>
              <a:rPr lang="de-DE" sz="3600" dirty="0" smtClean="0"/>
              <a:t/>
            </a:r>
            <a:br>
              <a:rPr lang="de-DE" sz="3600" dirty="0" smtClean="0"/>
            </a:br>
            <a:r>
              <a:rPr lang="de-DE" sz="3600" dirty="0" smtClean="0"/>
              <a:t>(40 Zusatzpunkte )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251520" y="1340768"/>
            <a:ext cx="8686800" cy="452431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1. Selbstplagiate: Schreiben Sie ein Programm, das in einem Text, der von der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Standardeingabe gelesen 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wird, die längste duplizierte Passage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herausfindet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. Sie können davon ausgehen, dass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die Standardeingabe 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aus einer Datei kommt.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Hinweis: Sie können ein solches Programm ziemlich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effizient 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mit Hilfe der Funktion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qsort</a:t>
            </a:r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realisieren: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(a) Lesen Sie den kompletten Text in einen String ein.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(b) Bauen Sie ein Pointer-Array auf, das genau so viele Pointer enthält, wie der String Zeichen.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(c) Speichern Sie im Pointer-Array an der Stelle i einen Verweis auf das String-Zeichen i. Also:</a:t>
            </a:r>
          </a:p>
          <a:p>
            <a:r>
              <a:rPr lang="de-DE" sz="1600" dirty="0" err="1">
                <a:latin typeface="+mn-lt"/>
                <a:cs typeface="Consolas" panose="020B0609020204030204" pitchFamily="49" charset="0"/>
              </a:rPr>
              <a:t>pointers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[i] =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string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+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i; Danach 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zeigt jeder Eintrag von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pointers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auf einen String.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(d) Sortieren Sie das Pointer-Array mit Hilfe von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qsort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, wobei Sie zum Vergleichen die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Funktion 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strcmp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verwenden.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(e) Finden Sie die längste Übereinstimmung zwischen zwei aufeinanderfolgenden Strings in</a:t>
            </a:r>
          </a:p>
          <a:p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pointers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. Die 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Funktionen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fseek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und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ftell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können Ihnen bei der anfänglichen Bestimmung der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Textgröße helfen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.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Verwenden Sie Ihr Programm, um die längste duplizierte Passage im „Moby Dick“ zu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finden</a:t>
            </a:r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(vgl. Übungsblatt 6, Aufgabe 2).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40 Z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usatzpunkte</a:t>
            </a:r>
            <a:endParaRPr lang="de-DE" sz="1600" dirty="0">
              <a:latin typeface="+mn-lt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3741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33" y="2523523"/>
            <a:ext cx="7825623" cy="2467569"/>
          </a:xfrm>
          <a:prstGeom prst="rect">
            <a:avLst/>
          </a:prstGeom>
        </p:spPr>
      </p:pic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20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2. Ideen Hausaufgabenserie 5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575542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600" dirty="0" err="1">
                <a:latin typeface="+mn-lt"/>
                <a:cs typeface="Consolas" panose="020B0609020204030204" pitchFamily="49" charset="0"/>
              </a:rPr>
              <a:t>char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*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chars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;</a:t>
            </a:r>
          </a:p>
          <a:p>
            <a:r>
              <a:rPr lang="de-DE" sz="1600" dirty="0" err="1">
                <a:latin typeface="+mn-lt"/>
                <a:cs typeface="Consolas" panose="020B0609020204030204" pitchFamily="49" charset="0"/>
              </a:rPr>
              <a:t>char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**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pointers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;</a:t>
            </a: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r>
              <a:rPr lang="de-DE" sz="1600" i="1" dirty="0"/>
              <a:t>Textausschnitt aus </a:t>
            </a:r>
            <a:r>
              <a:rPr lang="de-DE" sz="1600" i="1" dirty="0" err="1"/>
              <a:t>Mobi</a:t>
            </a:r>
            <a:r>
              <a:rPr lang="de-DE" sz="1600" i="1" dirty="0"/>
              <a:t> Dick : „</a:t>
            </a:r>
            <a:r>
              <a:rPr lang="de-DE" sz="1600" i="1" dirty="0" err="1"/>
              <a:t>once</a:t>
            </a:r>
            <a:r>
              <a:rPr lang="de-DE" sz="1600" i="1" dirty="0"/>
              <a:t> a </a:t>
            </a:r>
            <a:r>
              <a:rPr lang="de-DE" sz="1600" i="1" dirty="0" err="1"/>
              <a:t>whale</a:t>
            </a:r>
            <a:r>
              <a:rPr lang="de-DE" sz="1600" i="1" dirty="0"/>
              <a:t>“</a:t>
            </a: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 smtClean="0">
                <a:latin typeface="+mn-lt"/>
                <a:cs typeface="Consolas" panose="020B0609020204030204" pitchFamily="49" charset="0"/>
              </a:rPr>
              <a:t>Hier längstes Duplikat  „on“</a:t>
            </a:r>
          </a:p>
          <a:p>
            <a:r>
              <a:rPr lang="de-DE" sz="1600" dirty="0" smtClean="0">
                <a:latin typeface="+mn-lt"/>
                <a:cs typeface="Consolas" panose="020B0609020204030204" pitchFamily="49" charset="0"/>
              </a:rPr>
              <a:t>Idee Sortiere Feld 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pointers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alphabetisch ( Nutzung Funktion 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qsort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aus &lt;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stdlib.h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&gt;), dann vergleiche benachbarte Felder bis abweichender Buchstabe! Wenn neues Maximum (Selbstplagiat), dann ausgeben.</a:t>
            </a: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5796136" y="3523546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V="1">
            <a:off x="2987824" y="3523546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3275856" y="3523546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V="1">
            <a:off x="3491880" y="3528962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V="1">
            <a:off x="3779912" y="3528962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 flipV="1">
            <a:off x="4139952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4355976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4644008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4932040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V="1">
            <a:off x="5220072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5508104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V="1">
            <a:off x="6084168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 flipV="1">
            <a:off x="6372200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6660232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6948264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V="1">
            <a:off x="7236296" y="3536933"/>
            <a:ext cx="0" cy="560936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51580992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21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2. Ideen Hausaufgabenserie 5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5509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qsort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–</a:t>
            </a: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 smtClean="0">
                <a:latin typeface="+mn-lt"/>
                <a:cs typeface="Consolas" panose="020B0609020204030204" pitchFamily="49" charset="0"/>
              </a:rPr>
              <a:t>The </a:t>
            </a:r>
            <a:r>
              <a:rPr lang="en-US" sz="1600" dirty="0">
                <a:latin typeface="+mn-lt"/>
                <a:cs typeface="Consolas" panose="020B0609020204030204" pitchFamily="49" charset="0"/>
              </a:rPr>
              <a:t>C library function void </a:t>
            </a:r>
            <a:r>
              <a:rPr lang="en-US" sz="1600" dirty="0" smtClean="0">
                <a:latin typeface="+mn-lt"/>
                <a:cs typeface="Consolas" panose="020B0609020204030204" pitchFamily="49" charset="0"/>
              </a:rPr>
              <a:t>sorts </a:t>
            </a:r>
            <a:r>
              <a:rPr lang="en-US" sz="1600" dirty="0">
                <a:latin typeface="+mn-lt"/>
                <a:cs typeface="Consolas" panose="020B0609020204030204" pitchFamily="49" charset="0"/>
              </a:rPr>
              <a:t>an array.</a:t>
            </a:r>
          </a:p>
          <a:p>
            <a:endParaRPr lang="en-US" sz="1600" dirty="0" smtClean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 smtClean="0">
                <a:latin typeface="+mn-lt"/>
                <a:cs typeface="Consolas" panose="020B0609020204030204" pitchFamily="49" charset="0"/>
              </a:rPr>
              <a:t>Declaration</a:t>
            </a:r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Following is the declaration for qsort() function</a:t>
            </a:r>
            <a:r>
              <a:rPr lang="en-US" sz="1600" dirty="0" smtClean="0">
                <a:latin typeface="+mn-lt"/>
                <a:cs typeface="Consolas" panose="020B0609020204030204" pitchFamily="49" charset="0"/>
              </a:rPr>
              <a:t>.</a:t>
            </a:r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void 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qsort(void *base, </a:t>
            </a:r>
            <a:r>
              <a:rPr lang="en-US" sz="1600" b="1" dirty="0" err="1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nitems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size_t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 size, </a:t>
            </a:r>
            <a:r>
              <a:rPr lang="en-US" sz="1600" b="1" dirty="0" err="1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 (*</a:t>
            </a:r>
            <a:r>
              <a:rPr lang="en-US" sz="1600" b="1" dirty="0" err="1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compar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)(</a:t>
            </a:r>
            <a:r>
              <a:rPr lang="en-US" sz="1600" b="1" dirty="0" err="1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const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 void *, </a:t>
            </a:r>
            <a:r>
              <a:rPr lang="en-US" sz="1600" b="1" dirty="0" err="1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const</a:t>
            </a:r>
            <a:r>
              <a:rPr lang="en-US" sz="1600" b="1" dirty="0">
                <a:solidFill>
                  <a:srgbClr val="0070C0"/>
                </a:solidFill>
                <a:latin typeface="+mn-lt"/>
                <a:cs typeface="Consolas" panose="020B0609020204030204" pitchFamily="49" charset="0"/>
              </a:rPr>
              <a:t> void*))</a:t>
            </a: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Parameters</a:t>
            </a: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    base − This is the pointer to the first element of the array to be sorted.</a:t>
            </a: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+mn-lt"/>
                <a:cs typeface="Consolas" panose="020B0609020204030204" pitchFamily="49" charset="0"/>
              </a:rPr>
              <a:t>nitems</a:t>
            </a:r>
            <a:r>
              <a:rPr lang="en-US" sz="1600" dirty="0">
                <a:latin typeface="+mn-lt"/>
                <a:cs typeface="Consolas" panose="020B0609020204030204" pitchFamily="49" charset="0"/>
              </a:rPr>
              <a:t> − This is the number of elements in the array pointed by base.</a:t>
            </a: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    size − This is the size in bytes of each element in the array.</a:t>
            </a: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    </a:t>
            </a:r>
            <a:r>
              <a:rPr lang="en-US" sz="1600" dirty="0" err="1">
                <a:latin typeface="+mn-lt"/>
                <a:cs typeface="Consolas" panose="020B0609020204030204" pitchFamily="49" charset="0"/>
              </a:rPr>
              <a:t>compar</a:t>
            </a:r>
            <a:r>
              <a:rPr lang="en-US" sz="1600" dirty="0">
                <a:latin typeface="+mn-lt"/>
                <a:cs typeface="Consolas" panose="020B0609020204030204" pitchFamily="49" charset="0"/>
              </a:rPr>
              <a:t> − This is the function that compares two elements.</a:t>
            </a: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>
                <a:latin typeface="+mn-lt"/>
                <a:cs typeface="Consolas" panose="020B0609020204030204" pitchFamily="49" charset="0"/>
              </a:rPr>
              <a:t>Return </a:t>
            </a:r>
            <a:r>
              <a:rPr lang="en-US" sz="1600" dirty="0" smtClean="0">
                <a:latin typeface="+mn-lt"/>
                <a:cs typeface="Consolas" panose="020B0609020204030204" pitchFamily="49" charset="0"/>
              </a:rPr>
              <a:t>Value:</a:t>
            </a:r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endParaRPr lang="en-US" sz="1600" dirty="0">
              <a:latin typeface="+mn-lt"/>
              <a:cs typeface="Consolas" panose="020B0609020204030204" pitchFamily="49" charset="0"/>
            </a:endParaRPr>
          </a:p>
          <a:p>
            <a:r>
              <a:rPr lang="en-US" sz="1600" dirty="0" smtClean="0">
                <a:latin typeface="+mn-lt"/>
                <a:cs typeface="Consolas" panose="020B0609020204030204" pitchFamily="49" charset="0"/>
              </a:rPr>
              <a:t>    This </a:t>
            </a:r>
            <a:r>
              <a:rPr lang="en-US" sz="1600" dirty="0">
                <a:latin typeface="+mn-lt"/>
                <a:cs typeface="Consolas" panose="020B0609020204030204" pitchFamily="49" charset="0"/>
              </a:rPr>
              <a:t>function does not return any value.</a:t>
            </a:r>
            <a:endParaRPr lang="de-DE" sz="1600" dirty="0">
              <a:latin typeface="+mn-lt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375694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22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2. Ideen Hausaufgabenserie 5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23528" y="953864"/>
            <a:ext cx="8686800" cy="329320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 </a:t>
            </a:r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 smtClean="0">
                <a:latin typeface="+mn-lt"/>
                <a:cs typeface="Consolas" panose="020B0609020204030204" pitchFamily="49" charset="0"/>
              </a:rPr>
              <a:t>/* Funktion 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fuer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den 4. Parameter definieren im Quelltext*/</a:t>
            </a: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int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cmpf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(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const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void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*a,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const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void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*b) { </a:t>
            </a:r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	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/* alphabetischer Vergleich von Zeigern auf Buchstaben */</a:t>
            </a:r>
          </a:p>
          <a:p>
            <a:r>
              <a:rPr lang="de-DE" sz="1600" dirty="0">
                <a:latin typeface="+mn-lt"/>
                <a:cs typeface="Consolas" panose="020B0609020204030204" pitchFamily="49" charset="0"/>
              </a:rPr>
              <a:t> 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     	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return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</a:t>
            </a:r>
            <a:r>
              <a:rPr lang="de-DE" sz="1600" b="1" dirty="0" err="1">
                <a:latin typeface="+mn-lt"/>
                <a:cs typeface="Consolas" panose="020B0609020204030204" pitchFamily="49" charset="0"/>
              </a:rPr>
              <a:t>strcmp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(*(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char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**)a,*(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char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 **)b); </a:t>
            </a:r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 smtClean="0">
                <a:latin typeface="+mn-lt"/>
                <a:cs typeface="Consolas" panose="020B0609020204030204" pitchFamily="49" charset="0"/>
              </a:rPr>
              <a:t>}</a:t>
            </a: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endParaRPr lang="de-DE" sz="1600" dirty="0">
              <a:latin typeface="+mn-lt"/>
              <a:cs typeface="Consolas" panose="020B0609020204030204" pitchFamily="49" charset="0"/>
            </a:endParaRPr>
          </a:p>
          <a:p>
            <a:endParaRPr lang="de-DE" sz="1600" dirty="0" smtClean="0">
              <a:latin typeface="+mn-lt"/>
              <a:cs typeface="Consolas" panose="020B0609020204030204" pitchFamily="49" charset="0"/>
            </a:endParaRPr>
          </a:p>
          <a:p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qsort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(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pointers,nch,sizeof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(</a:t>
            </a:r>
            <a:r>
              <a:rPr lang="de-DE" sz="1600" dirty="0" err="1" smtClean="0">
                <a:latin typeface="+mn-lt"/>
                <a:cs typeface="Consolas" panose="020B0609020204030204" pitchFamily="49" charset="0"/>
              </a:rPr>
              <a:t>char</a:t>
            </a:r>
            <a:r>
              <a:rPr lang="de-DE" sz="1600" dirty="0" smtClean="0">
                <a:latin typeface="+mn-lt"/>
                <a:cs typeface="Consolas" panose="020B0609020204030204" pitchFamily="49" charset="0"/>
              </a:rPr>
              <a:t> 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*),</a:t>
            </a:r>
            <a:r>
              <a:rPr lang="de-DE" sz="1600" dirty="0" err="1">
                <a:latin typeface="+mn-lt"/>
                <a:cs typeface="Consolas" panose="020B0609020204030204" pitchFamily="49" charset="0"/>
              </a:rPr>
              <a:t>cmpf</a:t>
            </a:r>
            <a:r>
              <a:rPr lang="de-DE" sz="1600" dirty="0">
                <a:latin typeface="+mn-lt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33228026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23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3. </a:t>
            </a:r>
            <a:r>
              <a:rPr lang="de-DE" sz="3600" dirty="0" err="1" smtClean="0"/>
              <a:t>Typedefs</a:t>
            </a:r>
            <a:r>
              <a:rPr lang="de-DE" sz="3600" dirty="0" smtClean="0"/>
              <a:t> in C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02578"/>
            <a:ext cx="8686800" cy="47705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800" dirty="0" smtClean="0"/>
              <a:t>Wir kennen Datentypen mit Definition </a:t>
            </a:r>
            <a:r>
              <a:rPr lang="de-DE" sz="1800" dirty="0" err="1" smtClean="0"/>
              <a:t>struct</a:t>
            </a:r>
            <a:r>
              <a:rPr lang="de-DE" sz="1800" dirty="0" smtClean="0"/>
              <a:t>: </a:t>
            </a:r>
            <a:endParaRPr lang="de-DE" sz="1800" dirty="0"/>
          </a:p>
          <a:p>
            <a:endParaRPr lang="de-DE" sz="1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[20];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last[20];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pers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personen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[10];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/* Variablendefinition */</a:t>
            </a:r>
            <a:endParaRPr lang="de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800" dirty="0" smtClean="0"/>
          </a:p>
          <a:p>
            <a:r>
              <a:rPr lang="de-DE" sz="1800" dirty="0" smtClean="0"/>
              <a:t>Die </a:t>
            </a:r>
            <a:r>
              <a:rPr lang="de-DE" sz="1800" dirty="0"/>
              <a:t>Variablen </a:t>
            </a:r>
            <a:r>
              <a:rPr lang="de-DE" sz="1800" dirty="0" err="1"/>
              <a:t>pers</a:t>
            </a:r>
            <a:r>
              <a:rPr lang="de-DE" sz="1800" dirty="0"/>
              <a:t> und das Array </a:t>
            </a:r>
            <a:r>
              <a:rPr lang="de-DE" sz="1800" dirty="0" err="1"/>
              <a:t>personen</a:t>
            </a:r>
            <a:r>
              <a:rPr lang="de-DE" sz="1800" dirty="0"/>
              <a:t> sind gleich mit der Datentypdefinition</a:t>
            </a:r>
          </a:p>
          <a:p>
            <a:r>
              <a:rPr lang="de-DE" sz="1800" dirty="0"/>
              <a:t>angelegt worden, weitere Variablen können/müssen über Datentyp „</a:t>
            </a:r>
            <a:r>
              <a:rPr lang="de-DE" sz="1800" dirty="0" err="1"/>
              <a:t>struct</a:t>
            </a:r>
            <a:endParaRPr lang="de-DE" sz="1800" dirty="0"/>
          </a:p>
          <a:p>
            <a:r>
              <a:rPr lang="de-DE" sz="1800" dirty="0"/>
              <a:t>_</a:t>
            </a:r>
            <a:r>
              <a:rPr lang="de-DE" sz="1800" dirty="0" err="1"/>
              <a:t>person</a:t>
            </a:r>
            <a:r>
              <a:rPr lang="de-DE" sz="1800" dirty="0"/>
              <a:t>” definiert werden</a:t>
            </a:r>
            <a:r>
              <a:rPr lang="de-DE" sz="1800" dirty="0" smtClean="0"/>
              <a:t>.</a:t>
            </a:r>
          </a:p>
          <a:p>
            <a:endParaRPr lang="de-DE" sz="1800" dirty="0"/>
          </a:p>
          <a:p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p;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weitere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Variable */</a:t>
            </a:r>
            <a:endParaRPr lang="de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*z;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Variable als Zeiger auf Struktur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endParaRPr lang="de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800" dirty="0"/>
              <a:t>Kann man die Typdefinition nicht einfacher schreiben?</a:t>
            </a:r>
          </a:p>
          <a:p>
            <a:r>
              <a:rPr lang="de-DE" sz="1800" dirty="0"/>
              <a:t>Ja </a:t>
            </a:r>
            <a:r>
              <a:rPr lang="de-DE" sz="1800" dirty="0" smtClean="0"/>
              <a:t>mit typedef !</a:t>
            </a:r>
            <a:endParaRPr lang="de-DE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61124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24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3. </a:t>
            </a:r>
            <a:r>
              <a:rPr lang="de-DE" sz="3600" dirty="0" err="1" smtClean="0"/>
              <a:t>Typedefs</a:t>
            </a:r>
            <a:r>
              <a:rPr lang="de-DE" sz="3600" dirty="0" smtClean="0"/>
              <a:t> in C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02578"/>
            <a:ext cx="8686800" cy="480131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800" dirty="0"/>
              <a:t>In C gibt es das vordefinierte Schlüsselwort typedef</a:t>
            </a:r>
          </a:p>
          <a:p>
            <a:r>
              <a:rPr lang="de-DE" sz="1800" dirty="0"/>
              <a:t>Typedef fordert erst eine bestehenden Typdefinition und dann einen neuen</a:t>
            </a:r>
          </a:p>
          <a:p>
            <a:r>
              <a:rPr lang="de-DE" sz="1800" dirty="0"/>
              <a:t>Namen.</a:t>
            </a:r>
          </a:p>
          <a:p>
            <a:r>
              <a:rPr lang="de-DE" sz="1800" dirty="0"/>
              <a:t>Beispiel wir wollen </a:t>
            </a:r>
            <a:r>
              <a:rPr lang="de-DE" sz="1800" dirty="0" err="1"/>
              <a:t>struct</a:t>
            </a:r>
            <a:r>
              <a:rPr lang="de-DE" sz="1800" dirty="0"/>
              <a:t> _</a:t>
            </a:r>
            <a:r>
              <a:rPr lang="de-DE" sz="1800" dirty="0" err="1"/>
              <a:t>person</a:t>
            </a:r>
            <a:r>
              <a:rPr lang="de-DE" sz="1800" dirty="0"/>
              <a:t> in den Datentyp </a:t>
            </a:r>
            <a:r>
              <a:rPr lang="de-DE" sz="1800" dirty="0" err="1"/>
              <a:t>PersonRec</a:t>
            </a:r>
            <a:r>
              <a:rPr lang="de-DE" sz="1800" dirty="0"/>
              <a:t> und in den Zeiger</a:t>
            </a:r>
          </a:p>
          <a:p>
            <a:r>
              <a:rPr lang="de-DE" sz="1800" dirty="0"/>
              <a:t>Person umbenennen.</a:t>
            </a:r>
            <a:endParaRPr lang="de-DE" sz="1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600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 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[20];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last[20];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de-DE" sz="16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lang="de-DE" sz="16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*Person; /* Typdefinitionen, keine Variablendefinition!!! */</a:t>
            </a:r>
            <a:endParaRPr lang="de-DE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800" dirty="0" smtClean="0"/>
          </a:p>
          <a:p>
            <a:r>
              <a:rPr lang="de-DE" sz="1800" dirty="0"/>
              <a:t>Hinweis solche Definitionen funktionieren für beliebige Datentypen. Wir könnten</a:t>
            </a:r>
          </a:p>
          <a:p>
            <a:r>
              <a:rPr lang="de-DE" sz="1800" dirty="0"/>
              <a:t>z.B. den Datentyp </a:t>
            </a:r>
            <a:r>
              <a:rPr lang="de-DE" sz="1800" dirty="0" err="1"/>
              <a:t>Elem</a:t>
            </a:r>
            <a:r>
              <a:rPr lang="de-DE" sz="1800" dirty="0"/>
              <a:t> einführen, der tatsächlich einen </a:t>
            </a:r>
            <a:r>
              <a:rPr lang="de-DE" sz="1800" dirty="0" err="1"/>
              <a:t>int</a:t>
            </a:r>
            <a:r>
              <a:rPr lang="de-DE" sz="1800" dirty="0"/>
              <a:t>-Wert speichert:</a:t>
            </a:r>
          </a:p>
          <a:p>
            <a:endParaRPr lang="de-DE" sz="16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typedef int 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Elem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; /* </a:t>
            </a:r>
            <a:r>
              <a:rPr lang="de-DE" sz="1600" dirty="0">
                <a:latin typeface="Consolas" panose="020B0609020204030204" pitchFamily="49" charset="0"/>
                <a:cs typeface="Consolas" panose="020B0609020204030204" pitchFamily="49" charset="0"/>
              </a:rPr>
              <a:t>weitere 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Bezeichnung </a:t>
            </a:r>
            <a:r>
              <a:rPr lang="de-DE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fuer</a:t>
            </a:r>
            <a:r>
              <a:rPr lang="de-DE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int ! */</a:t>
            </a:r>
            <a:endParaRPr lang="de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287354339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25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3. </a:t>
            </a:r>
            <a:r>
              <a:rPr lang="de-DE" sz="3600" dirty="0" err="1" smtClean="0"/>
              <a:t>Typedefs</a:t>
            </a:r>
            <a:r>
              <a:rPr lang="de-DE" sz="3600" dirty="0" smtClean="0"/>
              <a:t> in C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02578"/>
            <a:ext cx="8686800" cy="526297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string.h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typedef 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[20];</a:t>
            </a:r>
          </a:p>
          <a:p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last[20];</a:t>
            </a:r>
          </a:p>
          <a:p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, *Person;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rekursive_eingabe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pers</a:t>
            </a:r>
            <a:r>
              <a:rPr lang="de-D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("Bitte Vorname Name Matrikelnummer, Jahr eingeben:\n");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if(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("%s %s %d %d",pers.first,pers.last,&amp;pers.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,&amp;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pers.year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) == 4){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rekursive_eingabe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() + 1;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("%d %s %s %d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Laenge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des Namens:%d\n",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pers.matr,pers.last,pers.first,pers.year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pers.last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nn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("Read %d 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records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\n",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rekursive_eingabe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213006"/>
            <a:ext cx="3886200" cy="2057400"/>
          </a:xfrm>
          <a:prstGeom prst="rect">
            <a:avLst/>
          </a:prstGeom>
          <a:ln w="31750"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712" y="1230628"/>
            <a:ext cx="3836664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8555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26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3. Dynamischer Speicher in C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02578"/>
            <a:ext cx="8686800" cy="480131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de-DE" sz="1800" dirty="0"/>
              <a:t>Wir </a:t>
            </a:r>
            <a:r>
              <a:rPr lang="de-DE" sz="1800" dirty="0" smtClean="0"/>
              <a:t>wollen eine </a:t>
            </a:r>
            <a:r>
              <a:rPr lang="de-DE" sz="1800" dirty="0"/>
              <a:t>variable Anzahl von Informationen zu </a:t>
            </a:r>
            <a:r>
              <a:rPr lang="de-DE" sz="1800" dirty="0" smtClean="0"/>
              <a:t>speichern!</a:t>
            </a:r>
          </a:p>
          <a:p>
            <a:endParaRPr lang="de-DE" sz="1800" dirty="0"/>
          </a:p>
          <a:p>
            <a:r>
              <a:rPr lang="de-DE" sz="1800" dirty="0"/>
              <a:t>Problem bei Feldern: feste Größen,</a:t>
            </a:r>
          </a:p>
          <a:p>
            <a:endParaRPr lang="de-DE" sz="1800" dirty="0" smtClean="0"/>
          </a:p>
          <a:p>
            <a:endParaRPr lang="de-DE" sz="1800" dirty="0" smtClean="0"/>
          </a:p>
          <a:p>
            <a:r>
              <a:rPr lang="de-DE" sz="1800" dirty="0" smtClean="0"/>
              <a:t>Problembehandlung </a:t>
            </a:r>
            <a:r>
              <a:rPr lang="de-DE" sz="1800" dirty="0"/>
              <a:t>bei Überlauf: größeres Feld und alte </a:t>
            </a:r>
            <a:r>
              <a:rPr lang="de-DE" sz="1800" dirty="0" smtClean="0"/>
              <a:t>Elemente müssen</a:t>
            </a:r>
            <a:endParaRPr lang="de-DE" sz="1800" dirty="0"/>
          </a:p>
          <a:p>
            <a:r>
              <a:rPr lang="de-DE" sz="1800" dirty="0" smtClean="0"/>
              <a:t>			umgespeichert werden.</a:t>
            </a:r>
            <a:endParaRPr lang="de-DE" sz="1800" dirty="0"/>
          </a:p>
          <a:p>
            <a:endParaRPr lang="de-DE" sz="1800" dirty="0" smtClean="0"/>
          </a:p>
          <a:p>
            <a:r>
              <a:rPr lang="de-DE" sz="1800" dirty="0" smtClean="0"/>
              <a:t>Problem bei Strings (Länge des </a:t>
            </a:r>
            <a:r>
              <a:rPr lang="de-DE" sz="1800" dirty="0" err="1" smtClean="0"/>
              <a:t>char</a:t>
            </a:r>
            <a:r>
              <a:rPr lang="de-DE" sz="1800" dirty="0" smtClean="0"/>
              <a:t>-Arrays für String).</a:t>
            </a:r>
          </a:p>
          <a:p>
            <a:endParaRPr lang="de-DE" sz="1800" dirty="0"/>
          </a:p>
          <a:p>
            <a:r>
              <a:rPr lang="de-DE" sz="1800" b="1" dirty="0" smtClean="0"/>
              <a:t>Dynamische </a:t>
            </a:r>
            <a:r>
              <a:rPr lang="de-DE" sz="1800" b="1" dirty="0"/>
              <a:t>Listen:</a:t>
            </a:r>
          </a:p>
          <a:p>
            <a:r>
              <a:rPr lang="de-DE" sz="1800" dirty="0"/>
              <a:t>Inhaltlich </a:t>
            </a:r>
            <a:r>
              <a:rPr lang="de-DE" sz="1800" dirty="0" smtClean="0"/>
              <a:t>bestehen </a:t>
            </a:r>
            <a:r>
              <a:rPr lang="de-DE" sz="1800" dirty="0"/>
              <a:t>sie aus 2 Teilen: Bereich zum </a:t>
            </a:r>
            <a:r>
              <a:rPr lang="de-DE" sz="1800" dirty="0" smtClean="0"/>
              <a:t>Speichern </a:t>
            </a:r>
            <a:r>
              <a:rPr lang="de-DE" sz="1800" dirty="0"/>
              <a:t>einer</a:t>
            </a:r>
          </a:p>
          <a:p>
            <a:r>
              <a:rPr lang="de-DE" sz="1800" dirty="0"/>
              <a:t>Informationseinheit und einem Bereich zum Verketten von Informationen.</a:t>
            </a:r>
          </a:p>
          <a:p>
            <a:endParaRPr lang="de-DE" sz="1800" dirty="0" smtClean="0"/>
          </a:p>
          <a:p>
            <a:r>
              <a:rPr lang="de-DE" sz="1800" dirty="0" smtClean="0"/>
              <a:t>Speicher wird zur Laufzeit dynamisch angefordert! (</a:t>
            </a:r>
            <a:r>
              <a:rPr lang="de-DE" sz="1800" dirty="0" err="1" smtClean="0"/>
              <a:t>malloc</a:t>
            </a:r>
            <a:r>
              <a:rPr lang="de-DE" sz="1800" dirty="0" smtClean="0"/>
              <a:t>) </a:t>
            </a:r>
          </a:p>
          <a:p>
            <a:endParaRPr lang="de-DE" sz="1800" dirty="0" smtClean="0"/>
          </a:p>
          <a:p>
            <a:r>
              <a:rPr lang="de-DE" sz="1800" dirty="0" smtClean="0"/>
              <a:t>Beliebig </a:t>
            </a:r>
            <a:r>
              <a:rPr lang="de-DE" sz="1800" dirty="0"/>
              <a:t>erweiterbar, aber </a:t>
            </a:r>
            <a:r>
              <a:rPr lang="de-DE" sz="1800" dirty="0" smtClean="0"/>
              <a:t>es besteht Platzbedarf </a:t>
            </a:r>
            <a:r>
              <a:rPr lang="de-DE" sz="1800" dirty="0"/>
              <a:t>für </a:t>
            </a:r>
            <a:r>
              <a:rPr lang="de-DE" sz="1800" dirty="0" smtClean="0"/>
              <a:t>Zeiger.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490289052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27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3. Dynamischer Speicher in C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118620" y="1052736"/>
            <a:ext cx="9001000" cy="572464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de-DE" sz="1800" b="1" dirty="0" smtClean="0">
                <a:solidFill>
                  <a:srgbClr val="FF0000"/>
                </a:solidFill>
              </a:rPr>
              <a:t>Idee:</a:t>
            </a:r>
            <a:r>
              <a:rPr lang="de-DE" sz="1800" dirty="0" smtClean="0"/>
              <a:t> Wir erzeugen dynamische eine Variable vom Typ </a:t>
            </a:r>
            <a:r>
              <a:rPr lang="de-DE" sz="1800" dirty="0" err="1" smtClean="0"/>
              <a:t>PersonRec</a:t>
            </a:r>
            <a:r>
              <a:rPr lang="de-DE" sz="1800" dirty="0" smtClean="0"/>
              <a:t>!</a:t>
            </a:r>
          </a:p>
          <a:p>
            <a:r>
              <a:rPr lang="de-DE" sz="1800" b="1" dirty="0" smtClean="0">
                <a:solidFill>
                  <a:srgbClr val="0070C0"/>
                </a:solidFill>
              </a:rPr>
              <a:t>Idee:</a:t>
            </a:r>
            <a:r>
              <a:rPr lang="de-DE" sz="1800" dirty="0" smtClean="0"/>
              <a:t> wir stellen Puffer zur Eingabe eines </a:t>
            </a:r>
            <a:r>
              <a:rPr lang="de-DE" sz="1800" dirty="0" err="1" smtClean="0"/>
              <a:t>Names</a:t>
            </a:r>
            <a:r>
              <a:rPr lang="de-DE" sz="1800" dirty="0" smtClean="0"/>
              <a:t> bereit, legen dann eine Variable in korrekter Länge an und speichern die Information um!</a:t>
            </a:r>
          </a:p>
          <a:p>
            <a:endParaRPr lang="de-DE" sz="1800" dirty="0"/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malloc.h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string.h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 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b="1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*last;</a:t>
            </a:r>
          </a:p>
          <a:p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de-DE" sz="1400" b="1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*Person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endParaRPr lang="de-DE" sz="14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[20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 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("Bitte N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ame und Matrikelnummer eingeben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:\n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("%s 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%d",</a:t>
            </a:r>
            <a:r>
              <a:rPr lang="de-DE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,&amp;</a:t>
            </a:r>
            <a:r>
              <a:rPr lang="de-D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,) 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== 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2){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 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("%d %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s\n</a:t>
            </a:r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  <a:r>
              <a:rPr lang="de-DE" sz="14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matnr,name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de-D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400" b="1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(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Person) 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malloc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));/*dynamisch Speicherplatz */</a:t>
            </a:r>
            <a:endParaRPr lang="de-DE" sz="14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-&gt;last </a:t>
            </a:r>
            <a:r>
              <a:rPr lang="de-DE" sz="1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(</a:t>
            </a:r>
            <a:r>
              <a:rPr lang="de-DE" sz="14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*) 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malloc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)+1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);/* Platz 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fuer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String Namen */</a:t>
            </a: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400" b="1" dirty="0" err="1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de-DE" sz="1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&gt;last, </a:t>
            </a:r>
            <a:r>
              <a:rPr lang="de-DE" sz="1400" b="1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400" b="1" dirty="0" smtClean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/* Kopiere Inhalte von Name zur Struktur*/</a:t>
            </a:r>
            <a:endParaRPr lang="de-DE" sz="1400" b="1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de-DE" sz="1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de-DE" sz="1400" b="1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4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de-DE" sz="1400" dirty="0" smtClean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30153050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85799" y="6400800"/>
            <a:ext cx="6468063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1C6170-EB42-44E9-AF72-4266241D0015}" type="slidenum">
              <a:rPr lang="en-US" smtClean="0"/>
              <a:pPr/>
              <a:t>28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 smtClean="0"/>
              <a:t>4. Realisierungen von Listen</a:t>
            </a:r>
            <a:endParaRPr lang="de-DE" sz="3200" i="1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42999"/>
            <a:ext cx="8515672" cy="513986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fontAlgn="auto" hangingPunct="1"/>
            <a:r>
              <a:rPr lang="de-DE" sz="1600" b="1" dirty="0" smtClean="0">
                <a:latin typeface="Consolas" pitchFamily="49" charset="0"/>
              </a:rPr>
              <a:t>Liste mit Array-Implementierung</a:t>
            </a:r>
          </a:p>
          <a:p>
            <a:pPr fontAlgn="auto" hangingPunct="1"/>
            <a:endParaRPr lang="de-DE" sz="800" dirty="0" smtClean="0">
              <a:latin typeface="Consolas" pitchFamily="49" charset="0"/>
            </a:endParaRPr>
          </a:p>
          <a:p>
            <a:pPr fontAlgn="auto" hangingPunct="1"/>
            <a:r>
              <a:rPr lang="de-DE" sz="1600" dirty="0" smtClean="0">
                <a:latin typeface="Consolas" pitchFamily="49" charset="0"/>
              </a:rPr>
              <a:t>Realisierung mit Array in C: </a:t>
            </a:r>
          </a:p>
          <a:p>
            <a:pPr fontAlgn="auto" hangingPunct="1"/>
            <a:endParaRPr lang="de-DE" sz="1600" dirty="0">
              <a:latin typeface="Consolas" pitchFamily="49" charset="0"/>
            </a:endParaRP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r>
              <a:rPr lang="de-DE" sz="1600" dirty="0">
                <a:latin typeface="Consolas" pitchFamily="49" charset="0"/>
              </a:rPr>
              <a:t>int f[]= {37, 42, 17, 29, 4, -9};</a:t>
            </a: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Keine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Probleme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bei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Einfügen</a:t>
            </a:r>
            <a:r>
              <a:rPr lang="en-US" sz="1600" dirty="0" smtClean="0">
                <a:latin typeface="Consolas" pitchFamily="49" charset="0"/>
              </a:rPr>
              <a:t>, </a:t>
            </a:r>
            <a:r>
              <a:rPr lang="en-US" sz="1600" dirty="0" err="1" smtClean="0">
                <a:latin typeface="Consolas" pitchFamily="49" charset="0"/>
              </a:rPr>
              <a:t>wenn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weniger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als</a:t>
            </a:r>
            <a:r>
              <a:rPr lang="en-US" sz="1600" dirty="0" smtClean="0">
                <a:latin typeface="Consolas" pitchFamily="49" charset="0"/>
              </a:rPr>
              <a:t> 6 </a:t>
            </a:r>
            <a:r>
              <a:rPr lang="en-US" sz="1600" dirty="0" err="1" smtClean="0">
                <a:latin typeface="Consolas" pitchFamily="49" charset="0"/>
              </a:rPr>
              <a:t>Elemente</a:t>
            </a:r>
            <a:r>
              <a:rPr lang="en-US" sz="1600" dirty="0" smtClean="0">
                <a:latin typeface="Consolas" pitchFamily="49" charset="0"/>
              </a:rPr>
              <a:t> (</a:t>
            </a:r>
            <a:r>
              <a:rPr lang="en-US" sz="1600" dirty="0" err="1" smtClean="0">
                <a:latin typeface="Consolas" pitchFamily="49" charset="0"/>
              </a:rPr>
              <a:t>Kapazität</a:t>
            </a:r>
            <a:r>
              <a:rPr lang="en-US" sz="1600" dirty="0" smtClean="0">
                <a:latin typeface="Consolas" pitchFamily="49" charset="0"/>
              </a:rPr>
              <a:t>) </a:t>
            </a:r>
            <a:r>
              <a:rPr lang="en-US" sz="1600" dirty="0" err="1" smtClean="0">
                <a:latin typeface="Consolas" pitchFamily="49" charset="0"/>
              </a:rPr>
              <a:t>eingegeben</a:t>
            </a:r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r>
              <a:rPr lang="en-US" sz="1600" dirty="0" smtClean="0">
                <a:latin typeface="Consolas" pitchFamily="49" charset="0"/>
              </a:rPr>
              <a:t>Was </a:t>
            </a:r>
            <a:r>
              <a:rPr lang="en-US" sz="1600" dirty="0" err="1" smtClean="0">
                <a:latin typeface="Consolas" pitchFamily="49" charset="0"/>
              </a:rPr>
              <a:t>tun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bei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mehr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als</a:t>
            </a:r>
            <a:r>
              <a:rPr lang="en-US" sz="1600" dirty="0" smtClean="0">
                <a:latin typeface="Consolas" pitchFamily="49" charset="0"/>
              </a:rPr>
              <a:t> 6?</a:t>
            </a:r>
          </a:p>
          <a:p>
            <a:pPr fontAlgn="auto" hangingPunct="1"/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Größeres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Feld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anlegen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alle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Elemente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kopieren</a:t>
            </a:r>
            <a:r>
              <a:rPr lang="en-US" sz="1600" dirty="0" smtClean="0">
                <a:latin typeface="Consolas" pitchFamily="49" charset="0"/>
              </a:rPr>
              <a:t>)</a:t>
            </a: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r>
              <a:rPr lang="en-US" sz="1600" dirty="0" smtClean="0">
                <a:latin typeface="Consolas" pitchFamily="49" charset="0"/>
              </a:rPr>
              <a:t>Delete 17</a:t>
            </a: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Alle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Elemente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ab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Löschposition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verschieben</a:t>
            </a:r>
            <a:r>
              <a:rPr lang="en-US" sz="1600" dirty="0" smtClean="0">
                <a:latin typeface="Consolas" pitchFamily="49" charset="0"/>
              </a:rPr>
              <a:t>!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27584" y="3224615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37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1475656" y="3224615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42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2123728" y="3222643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17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2771800" y="3222643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29</a:t>
            </a:r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3419872" y="3221856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4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4067944" y="3221856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-9</a:t>
            </a:r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827584" y="2780928"/>
            <a:ext cx="648072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f[0]</a:t>
            </a:r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1475656" y="2780928"/>
            <a:ext cx="648072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f[1]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2123728" y="2780928"/>
            <a:ext cx="648072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f[2]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2771800" y="2780928"/>
            <a:ext cx="648072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f[3]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3419872" y="2780928"/>
            <a:ext cx="648072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f[4]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4067944" y="2780928"/>
            <a:ext cx="648072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f[5]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3042564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85799" y="6400800"/>
            <a:ext cx="6468063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1C6170-EB42-44E9-AF72-4266241D0015}" type="slidenum">
              <a:rPr lang="en-US" smtClean="0"/>
              <a:pPr/>
              <a:t>29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 smtClean="0"/>
              <a:t>4. Realisierungen von Listen</a:t>
            </a:r>
            <a:endParaRPr lang="de-DE" sz="3200" i="1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42999"/>
            <a:ext cx="8515672" cy="452431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fontAlgn="auto" hangingPunct="1"/>
            <a:r>
              <a:rPr lang="de-DE" sz="1600" b="1" dirty="0" smtClean="0">
                <a:latin typeface="Consolas" pitchFamily="49" charset="0"/>
              </a:rPr>
              <a:t>Liste mit einfacher Verkettung</a:t>
            </a: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r>
              <a:rPr lang="de-DE" sz="1600" dirty="0" smtClean="0">
                <a:latin typeface="Consolas" pitchFamily="49" charset="0"/>
              </a:rPr>
              <a:t>Beispiel Liste aus Zahlen 37, 42, 17, 29 in eine Kette</a:t>
            </a: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Keine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Probleme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bei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Einfügen</a:t>
            </a:r>
            <a:r>
              <a:rPr lang="en-US" sz="1600" dirty="0" smtClean="0">
                <a:latin typeface="Consolas" pitchFamily="49" charset="0"/>
              </a:rPr>
              <a:t>! </a:t>
            </a: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Neue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Zelle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anlegen</a:t>
            </a:r>
            <a:r>
              <a:rPr lang="en-US" sz="1600" dirty="0" smtClean="0">
                <a:latin typeface="Consolas" pitchFamily="49" charset="0"/>
              </a:rPr>
              <a:t>, </a:t>
            </a:r>
            <a:r>
              <a:rPr lang="en-US" sz="1600" dirty="0" err="1" smtClean="0">
                <a:latin typeface="Consolas" pitchFamily="49" charset="0"/>
              </a:rPr>
              <a:t>Nachfolger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ist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alte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Zelle</a:t>
            </a:r>
            <a:r>
              <a:rPr lang="en-US" sz="1600" dirty="0" smtClean="0">
                <a:latin typeface="Consolas" pitchFamily="49" charset="0"/>
              </a:rPr>
              <a:t>, </a:t>
            </a:r>
            <a:r>
              <a:rPr lang="en-US" sz="1600" dirty="0" err="1" smtClean="0">
                <a:latin typeface="Consolas" pitchFamily="49" charset="0"/>
              </a:rPr>
              <a:t>neuen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Anfang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definieren</a:t>
            </a:r>
            <a:r>
              <a:rPr lang="en-US" sz="1600" dirty="0" smtClean="0">
                <a:latin typeface="Consolas" pitchFamily="49" charset="0"/>
              </a:rPr>
              <a:t>.</a:t>
            </a: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Löschen</a:t>
            </a:r>
            <a:r>
              <a:rPr lang="en-US" sz="1600" dirty="0" smtClean="0">
                <a:latin typeface="Consolas" pitchFamily="49" charset="0"/>
              </a:rPr>
              <a:t> von 17</a:t>
            </a: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Vorgänger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bestimmen</a:t>
            </a:r>
            <a:r>
              <a:rPr lang="en-US" sz="1600" dirty="0" smtClean="0">
                <a:latin typeface="Consolas" pitchFamily="49" charset="0"/>
              </a:rPr>
              <a:t> (29) </a:t>
            </a:r>
            <a:r>
              <a:rPr lang="en-US" sz="1600" dirty="0" err="1" smtClean="0">
                <a:latin typeface="Consolas" pitchFamily="49" charset="0"/>
              </a:rPr>
              <a:t>oder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merken</a:t>
            </a:r>
            <a:r>
              <a:rPr lang="en-US" sz="1600" dirty="0" smtClean="0">
                <a:latin typeface="Consolas" pitchFamily="49" charset="0"/>
              </a:rPr>
              <a:t>, um </a:t>
            </a:r>
            <a:r>
              <a:rPr lang="en-US" sz="1600" dirty="0" err="1" smtClean="0">
                <a:latin typeface="Consolas" pitchFamily="49" charset="0"/>
              </a:rPr>
              <a:t>dort</a:t>
            </a:r>
            <a:r>
              <a:rPr lang="en-US" sz="1600" dirty="0" smtClean="0">
                <a:latin typeface="Consolas" pitchFamily="49" charset="0"/>
              </a:rPr>
              <a:t> den </a:t>
            </a:r>
            <a:r>
              <a:rPr lang="en-US" sz="1600" dirty="0" err="1" smtClean="0">
                <a:latin typeface="Consolas" pitchFamily="49" charset="0"/>
              </a:rPr>
              <a:t>Nachfolger</a:t>
            </a:r>
            <a:r>
              <a:rPr lang="en-US" sz="1600" dirty="0" smtClean="0">
                <a:latin typeface="Consolas" pitchFamily="49" charset="0"/>
              </a:rPr>
              <a:t> der </a:t>
            </a:r>
            <a:r>
              <a:rPr lang="en-US" sz="1600" dirty="0" err="1" smtClean="0">
                <a:latin typeface="Consolas" pitchFamily="49" charset="0"/>
              </a:rPr>
              <a:t>gelöschten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Zelle</a:t>
            </a:r>
            <a:r>
              <a:rPr lang="en-US" sz="1600" dirty="0" smtClean="0">
                <a:latin typeface="Consolas" pitchFamily="49" charset="0"/>
              </a:rPr>
              <a:t> (42) </a:t>
            </a:r>
            <a:r>
              <a:rPr lang="en-US" sz="1600" dirty="0" err="1" smtClean="0">
                <a:latin typeface="Consolas" pitchFamily="49" charset="0"/>
              </a:rPr>
              <a:t>einzutragen</a:t>
            </a:r>
            <a:r>
              <a:rPr lang="en-US" sz="1600" dirty="0" smtClean="0">
                <a:latin typeface="Consolas" pitchFamily="49" charset="0"/>
              </a:rPr>
              <a:t>, </a:t>
            </a:r>
            <a:r>
              <a:rPr lang="en-US" sz="1600" dirty="0" err="1" smtClean="0">
                <a:latin typeface="Consolas" pitchFamily="49" charset="0"/>
              </a:rPr>
              <a:t>dann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ist</a:t>
            </a:r>
            <a:r>
              <a:rPr lang="en-US" sz="1600" dirty="0" smtClean="0">
                <a:latin typeface="Consolas" pitchFamily="49" charset="0"/>
              </a:rPr>
              <a:t> 42 der </a:t>
            </a:r>
            <a:r>
              <a:rPr lang="en-US" sz="1600" dirty="0" err="1" smtClean="0">
                <a:latin typeface="Consolas" pitchFamily="49" charset="0"/>
              </a:rPr>
              <a:t>Nachfolger</a:t>
            </a:r>
            <a:r>
              <a:rPr lang="en-US" sz="1600" dirty="0" smtClean="0">
                <a:latin typeface="Consolas" pitchFamily="49" charset="0"/>
              </a:rPr>
              <a:t> von 29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85799" y="2276872"/>
            <a:ext cx="5976664" cy="832158"/>
            <a:chOff x="683568" y="2204864"/>
            <a:chExt cx="5976664" cy="832158"/>
          </a:xfrm>
        </p:grpSpPr>
        <p:sp>
          <p:nvSpPr>
            <p:cNvPr id="7" name="Textfeld 6"/>
            <p:cNvSpPr txBox="1"/>
            <p:nvPr/>
          </p:nvSpPr>
          <p:spPr>
            <a:xfrm>
              <a:off x="2123728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29</a:t>
              </a:r>
              <a:endParaRPr lang="de-DE" dirty="0"/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3419872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3419872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17</a:t>
              </a:r>
              <a:endParaRPr lang="de-DE" dirty="0"/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4716016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4716016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42</a:t>
              </a:r>
              <a:endParaRPr lang="de-DE" dirty="0"/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6012160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null</a:t>
              </a:r>
              <a:endParaRPr lang="de-DE" dirty="0"/>
            </a:p>
          </p:txBody>
        </p:sp>
        <p:sp>
          <p:nvSpPr>
            <p:cNvPr id="19" name="Textfeld 18"/>
            <p:cNvSpPr txBox="1"/>
            <p:nvPr/>
          </p:nvSpPr>
          <p:spPr>
            <a:xfrm>
              <a:off x="2123728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6012160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37</a:t>
              </a:r>
              <a:endParaRPr lang="de-DE" dirty="0"/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683568" y="2204864"/>
              <a:ext cx="648072" cy="40011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l</a:t>
              </a:r>
              <a:endParaRPr lang="de-DE" dirty="0"/>
            </a:p>
          </p:txBody>
        </p:sp>
        <p:cxnSp>
          <p:nvCxnSpPr>
            <p:cNvPr id="23" name="Gerade Verbindung mit Pfeil 22"/>
            <p:cNvCxnSpPr>
              <a:stCxn id="21" idx="3"/>
              <a:endCxn id="7" idx="1"/>
            </p:cNvCxnSpPr>
            <p:nvPr/>
          </p:nvCxnSpPr>
          <p:spPr bwMode="auto">
            <a:xfrm>
              <a:off x="1331640" y="2404919"/>
              <a:ext cx="792088" cy="0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24" name="Gerade Verbindung mit Pfeil 23"/>
            <p:cNvCxnSpPr>
              <a:endCxn id="9" idx="1"/>
            </p:cNvCxnSpPr>
            <p:nvPr/>
          </p:nvCxnSpPr>
          <p:spPr bwMode="auto">
            <a:xfrm flipV="1">
              <a:off x="2483768" y="2404919"/>
              <a:ext cx="936104" cy="44801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26" name="Gerade Verbindung mit Pfeil 25"/>
            <p:cNvCxnSpPr>
              <a:endCxn id="11" idx="1"/>
            </p:cNvCxnSpPr>
            <p:nvPr/>
          </p:nvCxnSpPr>
          <p:spPr bwMode="auto">
            <a:xfrm flipV="1">
              <a:off x="3707904" y="2404919"/>
              <a:ext cx="1008112" cy="44801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28" name="Gerade Verbindung mit Pfeil 27"/>
            <p:cNvCxnSpPr>
              <a:endCxn id="20" idx="1"/>
            </p:cNvCxnSpPr>
            <p:nvPr/>
          </p:nvCxnSpPr>
          <p:spPr bwMode="auto">
            <a:xfrm flipV="1">
              <a:off x="5076056" y="2404919"/>
              <a:ext cx="936104" cy="44801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6715770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85799" y="6400800"/>
            <a:ext cx="6468063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1C6170-EB42-44E9-AF72-4266241D0015}" type="slidenum">
              <a:rPr lang="en-US" smtClean="0"/>
              <a:pPr/>
              <a:t>30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 smtClean="0"/>
              <a:t>4. Realisierungen von Listen</a:t>
            </a:r>
            <a:endParaRPr lang="de-DE" sz="3200" i="1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42999"/>
            <a:ext cx="8515672" cy="501675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fontAlgn="auto" hangingPunct="1"/>
            <a:r>
              <a:rPr lang="de-DE" sz="1600" b="1" dirty="0">
                <a:latin typeface="Consolas" pitchFamily="49" charset="0"/>
              </a:rPr>
              <a:t>Liste mit </a:t>
            </a:r>
            <a:r>
              <a:rPr lang="de-DE" sz="1600" b="1" dirty="0" smtClean="0">
                <a:latin typeface="Consolas" pitchFamily="49" charset="0"/>
              </a:rPr>
              <a:t>doppelter Verkettung</a:t>
            </a: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r>
              <a:rPr lang="de-DE" sz="1600" dirty="0" smtClean="0">
                <a:latin typeface="Consolas" pitchFamily="49" charset="0"/>
              </a:rPr>
              <a:t>Beispiel Liste aus Zahlen 37, 42, 17, 29 in einer doppelt verketteten Liste</a:t>
            </a: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endParaRPr lang="de-DE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Keine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Probleme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bei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Einfügen</a:t>
            </a:r>
            <a:r>
              <a:rPr lang="en-US" sz="1600" dirty="0" smtClean="0">
                <a:latin typeface="Consolas" pitchFamily="49" charset="0"/>
              </a:rPr>
              <a:t>! </a:t>
            </a: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Neue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Zelle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anlegen</a:t>
            </a:r>
            <a:r>
              <a:rPr lang="en-US" sz="1600" dirty="0" smtClean="0">
                <a:latin typeface="Consolas" pitchFamily="49" charset="0"/>
              </a:rPr>
              <a:t>, </a:t>
            </a:r>
            <a:r>
              <a:rPr lang="en-US" sz="1600" dirty="0" err="1" smtClean="0">
                <a:latin typeface="Consolas" pitchFamily="49" charset="0"/>
              </a:rPr>
              <a:t>Nachfolger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ist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alte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Zelle</a:t>
            </a:r>
            <a:r>
              <a:rPr lang="en-US" sz="1600" dirty="0" smtClean="0">
                <a:latin typeface="Consolas" pitchFamily="49" charset="0"/>
              </a:rPr>
              <a:t>, </a:t>
            </a:r>
            <a:r>
              <a:rPr lang="en-US" sz="1600" dirty="0" err="1" smtClean="0">
                <a:latin typeface="Consolas" pitchFamily="49" charset="0"/>
              </a:rPr>
              <a:t>neuen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Anfang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definieren</a:t>
            </a:r>
            <a:r>
              <a:rPr lang="en-US" sz="1600" dirty="0" smtClean="0">
                <a:latin typeface="Consolas" pitchFamily="49" charset="0"/>
              </a:rPr>
              <a:t>.</a:t>
            </a: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Löschen</a:t>
            </a:r>
            <a:r>
              <a:rPr lang="en-US" sz="1600" dirty="0" smtClean="0">
                <a:latin typeface="Consolas" pitchFamily="49" charset="0"/>
              </a:rPr>
              <a:t> von 17</a:t>
            </a:r>
          </a:p>
          <a:p>
            <a:pPr fontAlgn="auto" hangingPunct="1"/>
            <a:r>
              <a:rPr lang="en-US" sz="1600" dirty="0" err="1" smtClean="0">
                <a:latin typeface="Consolas" pitchFamily="49" charset="0"/>
              </a:rPr>
              <a:t>Vorgänger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bestimmen</a:t>
            </a:r>
            <a:r>
              <a:rPr lang="en-US" sz="1600" dirty="0" smtClean="0">
                <a:latin typeface="Consolas" pitchFamily="49" charset="0"/>
              </a:rPr>
              <a:t>, um </a:t>
            </a:r>
            <a:r>
              <a:rPr lang="en-US" sz="1600" dirty="0" err="1" smtClean="0">
                <a:latin typeface="Consolas" pitchFamily="49" charset="0"/>
              </a:rPr>
              <a:t>dort</a:t>
            </a:r>
            <a:r>
              <a:rPr lang="en-US" sz="1600" dirty="0" smtClean="0">
                <a:latin typeface="Consolas" pitchFamily="49" charset="0"/>
              </a:rPr>
              <a:t> den </a:t>
            </a:r>
            <a:r>
              <a:rPr lang="en-US" sz="1600" dirty="0" err="1" smtClean="0">
                <a:latin typeface="Consolas" pitchFamily="49" charset="0"/>
              </a:rPr>
              <a:t>Nachfolger</a:t>
            </a:r>
            <a:r>
              <a:rPr lang="en-US" sz="1600" dirty="0" smtClean="0">
                <a:latin typeface="Consolas" pitchFamily="49" charset="0"/>
              </a:rPr>
              <a:t> der </a:t>
            </a:r>
            <a:r>
              <a:rPr lang="en-US" sz="1600" dirty="0" err="1" smtClean="0">
                <a:latin typeface="Consolas" pitchFamily="49" charset="0"/>
              </a:rPr>
              <a:t>gelöschten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Zelle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smtClean="0">
                <a:latin typeface="Consolas" pitchFamily="49" charset="0"/>
              </a:rPr>
              <a:t>eintragen, </a:t>
            </a:r>
            <a:r>
              <a:rPr lang="en-US" sz="1600" dirty="0" err="1">
                <a:latin typeface="Consolas" pitchFamily="49" charset="0"/>
              </a:rPr>
              <a:t>dann</a:t>
            </a:r>
            <a:r>
              <a:rPr lang="en-US" sz="1600" dirty="0">
                <a:latin typeface="Consolas" pitchFamily="49" charset="0"/>
              </a:rPr>
              <a:t> </a:t>
            </a:r>
            <a:r>
              <a:rPr lang="en-US" sz="1600" dirty="0" err="1">
                <a:latin typeface="Consolas" pitchFamily="49" charset="0"/>
              </a:rPr>
              <a:t>ist</a:t>
            </a:r>
            <a:r>
              <a:rPr lang="en-US" sz="1600" dirty="0">
                <a:latin typeface="Consolas" pitchFamily="49" charset="0"/>
              </a:rPr>
              <a:t> 42 der </a:t>
            </a:r>
            <a:r>
              <a:rPr lang="en-US" sz="1600" dirty="0" err="1">
                <a:latin typeface="Consolas" pitchFamily="49" charset="0"/>
              </a:rPr>
              <a:t>Nachfolger</a:t>
            </a:r>
            <a:r>
              <a:rPr lang="en-US" sz="1600" dirty="0">
                <a:latin typeface="Consolas" pitchFamily="49" charset="0"/>
              </a:rPr>
              <a:t> von </a:t>
            </a:r>
            <a:r>
              <a:rPr lang="en-US" sz="1600" dirty="0" smtClean="0">
                <a:latin typeface="Consolas" pitchFamily="49" charset="0"/>
              </a:rPr>
              <a:t>29 und 29 der </a:t>
            </a:r>
            <a:r>
              <a:rPr lang="en-US" sz="1600" dirty="0" err="1" smtClean="0">
                <a:latin typeface="Consolas" pitchFamily="49" charset="0"/>
              </a:rPr>
              <a:t>Vorgänger</a:t>
            </a:r>
            <a:r>
              <a:rPr lang="en-US" sz="1600" dirty="0" smtClean="0">
                <a:latin typeface="Consolas" pitchFamily="49" charset="0"/>
              </a:rPr>
              <a:t> von 42)</a:t>
            </a:r>
            <a:endParaRPr lang="en-US" sz="1600" dirty="0">
              <a:latin typeface="Consolas" pitchFamily="49" charset="0"/>
            </a:endParaRPr>
          </a:p>
          <a:p>
            <a:pPr fontAlgn="auto" hangingPunct="1"/>
            <a:endParaRPr lang="en-US" sz="1600" dirty="0" smtClean="0">
              <a:latin typeface="Consolas" pitchFamily="49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72841" y="2420888"/>
            <a:ext cx="5976664" cy="1192198"/>
            <a:chOff x="683568" y="2204864"/>
            <a:chExt cx="5976664" cy="1192198"/>
          </a:xfrm>
        </p:grpSpPr>
        <p:sp>
          <p:nvSpPr>
            <p:cNvPr id="7" name="Textfeld 6"/>
            <p:cNvSpPr txBox="1"/>
            <p:nvPr/>
          </p:nvSpPr>
          <p:spPr>
            <a:xfrm>
              <a:off x="2123728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29</a:t>
              </a:r>
              <a:endParaRPr lang="de-DE" dirty="0"/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3419872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3419872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17</a:t>
              </a:r>
              <a:endParaRPr lang="de-DE" dirty="0"/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4716016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4716016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42</a:t>
              </a:r>
              <a:endParaRPr lang="de-DE" dirty="0"/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6012160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null</a:t>
              </a:r>
              <a:endParaRPr lang="de-DE" dirty="0"/>
            </a:p>
          </p:txBody>
        </p:sp>
        <p:sp>
          <p:nvSpPr>
            <p:cNvPr id="19" name="Textfeld 18"/>
            <p:cNvSpPr txBox="1"/>
            <p:nvPr/>
          </p:nvSpPr>
          <p:spPr>
            <a:xfrm>
              <a:off x="2123728" y="263691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6012160" y="2204864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37</a:t>
              </a:r>
              <a:endParaRPr lang="de-DE" dirty="0"/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683568" y="2204864"/>
              <a:ext cx="648072" cy="40011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l</a:t>
              </a:r>
              <a:endParaRPr lang="de-DE" dirty="0"/>
            </a:p>
          </p:txBody>
        </p:sp>
        <p:cxnSp>
          <p:nvCxnSpPr>
            <p:cNvPr id="23" name="Gerade Verbindung mit Pfeil 22"/>
            <p:cNvCxnSpPr>
              <a:stCxn id="21" idx="3"/>
              <a:endCxn id="7" idx="1"/>
            </p:cNvCxnSpPr>
            <p:nvPr/>
          </p:nvCxnSpPr>
          <p:spPr bwMode="auto">
            <a:xfrm>
              <a:off x="1331640" y="2404919"/>
              <a:ext cx="792088" cy="0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24" name="Gerade Verbindung mit Pfeil 23"/>
            <p:cNvCxnSpPr>
              <a:endCxn id="9" idx="1"/>
            </p:cNvCxnSpPr>
            <p:nvPr/>
          </p:nvCxnSpPr>
          <p:spPr bwMode="auto">
            <a:xfrm flipV="1">
              <a:off x="2483768" y="2404919"/>
              <a:ext cx="936104" cy="44801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26" name="Gerade Verbindung mit Pfeil 25"/>
            <p:cNvCxnSpPr>
              <a:endCxn id="11" idx="1"/>
            </p:cNvCxnSpPr>
            <p:nvPr/>
          </p:nvCxnSpPr>
          <p:spPr bwMode="auto">
            <a:xfrm flipV="1">
              <a:off x="3707904" y="2404919"/>
              <a:ext cx="1008112" cy="44801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28" name="Gerade Verbindung mit Pfeil 27"/>
            <p:cNvCxnSpPr>
              <a:endCxn id="20" idx="1"/>
            </p:cNvCxnSpPr>
            <p:nvPr/>
          </p:nvCxnSpPr>
          <p:spPr bwMode="auto">
            <a:xfrm flipV="1">
              <a:off x="5076056" y="2404919"/>
              <a:ext cx="936104" cy="44801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22" name="Textfeld 21"/>
            <p:cNvSpPr txBox="1"/>
            <p:nvPr/>
          </p:nvSpPr>
          <p:spPr>
            <a:xfrm>
              <a:off x="2123728" y="299695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null</a:t>
              </a:r>
              <a:endParaRPr lang="de-DE" dirty="0"/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3419872" y="299695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27" name="Textfeld 26"/>
            <p:cNvSpPr txBox="1"/>
            <p:nvPr/>
          </p:nvSpPr>
          <p:spPr>
            <a:xfrm>
              <a:off x="4716016" y="299695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29" name="Textfeld 28"/>
            <p:cNvSpPr txBox="1"/>
            <p:nvPr/>
          </p:nvSpPr>
          <p:spPr>
            <a:xfrm>
              <a:off x="6012160" y="2996952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cxnSp>
          <p:nvCxnSpPr>
            <p:cNvPr id="30" name="Gerade Verbindung mit Pfeil 29"/>
            <p:cNvCxnSpPr>
              <a:endCxn id="11" idx="3"/>
            </p:cNvCxnSpPr>
            <p:nvPr/>
          </p:nvCxnSpPr>
          <p:spPr bwMode="auto">
            <a:xfrm flipH="1" flipV="1">
              <a:off x="5364088" y="2404919"/>
              <a:ext cx="936104" cy="80805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33" name="Gerade Verbindung mit Pfeil 32"/>
            <p:cNvCxnSpPr/>
            <p:nvPr/>
          </p:nvCxnSpPr>
          <p:spPr bwMode="auto">
            <a:xfrm flipH="1" flipV="1">
              <a:off x="4067944" y="2420888"/>
              <a:ext cx="936104" cy="80805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34" name="Gerade Verbindung mit Pfeil 33"/>
            <p:cNvCxnSpPr/>
            <p:nvPr/>
          </p:nvCxnSpPr>
          <p:spPr bwMode="auto">
            <a:xfrm flipH="1" flipV="1">
              <a:off x="2771800" y="2420888"/>
              <a:ext cx="936104" cy="808057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11487331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85799" y="6400800"/>
            <a:ext cx="6468063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1C6170-EB42-44E9-AF72-4266241D0015}" type="slidenum">
              <a:rPr lang="en-US" smtClean="0"/>
              <a:pPr/>
              <a:t>31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 smtClean="0"/>
              <a:t>4. Realisierungen von Listen</a:t>
            </a:r>
            <a:endParaRPr lang="de-DE" sz="3200" i="1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42999"/>
            <a:ext cx="8515672" cy="5663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fontAlgn="auto" hangingPunct="1"/>
            <a:r>
              <a:rPr lang="de-DE" sz="1600" b="1" dirty="0" smtClean="0">
                <a:latin typeface="Consolas" pitchFamily="49" charset="0"/>
              </a:rPr>
              <a:t>Liste mit Verkettungen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#</a:t>
            </a:r>
            <a:r>
              <a:rPr lang="de-DE" sz="1100" dirty="0" err="1">
                <a:latin typeface="Consolas" pitchFamily="49" charset="0"/>
              </a:rPr>
              <a:t>include</a:t>
            </a:r>
            <a:r>
              <a:rPr lang="de-DE" sz="1100" dirty="0">
                <a:latin typeface="Consolas" pitchFamily="49" charset="0"/>
              </a:rPr>
              <a:t> &lt;</a:t>
            </a:r>
            <a:r>
              <a:rPr lang="de-DE" sz="1100" dirty="0" err="1">
                <a:latin typeface="Consolas" pitchFamily="49" charset="0"/>
              </a:rPr>
              <a:t>stdio.h</a:t>
            </a:r>
            <a:r>
              <a:rPr lang="de-DE" sz="1100" dirty="0">
                <a:latin typeface="Consolas" pitchFamily="49" charset="0"/>
              </a:rPr>
              <a:t>&gt;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#</a:t>
            </a:r>
            <a:r>
              <a:rPr lang="de-DE" sz="1100" dirty="0" err="1">
                <a:latin typeface="Consolas" pitchFamily="49" charset="0"/>
              </a:rPr>
              <a:t>include</a:t>
            </a:r>
            <a:r>
              <a:rPr lang="de-DE" sz="1100" dirty="0">
                <a:latin typeface="Consolas" pitchFamily="49" charset="0"/>
              </a:rPr>
              <a:t> &lt;</a:t>
            </a:r>
            <a:r>
              <a:rPr lang="de-DE" sz="1100" dirty="0" err="1">
                <a:latin typeface="Consolas" pitchFamily="49" charset="0"/>
              </a:rPr>
              <a:t>malloc.h</a:t>
            </a:r>
            <a:r>
              <a:rPr lang="de-DE" sz="1100" dirty="0">
                <a:latin typeface="Consolas" pitchFamily="49" charset="0"/>
              </a:rPr>
              <a:t>&gt;</a:t>
            </a:r>
          </a:p>
          <a:p>
            <a:pPr fontAlgn="auto" hangingPunct="1"/>
            <a:endParaRPr lang="de-DE" sz="800" dirty="0"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typedef </a:t>
            </a:r>
            <a:r>
              <a:rPr lang="de-DE" sz="1100" dirty="0" err="1">
                <a:latin typeface="Consolas" pitchFamily="49" charset="0"/>
              </a:rPr>
              <a:t>struct</a:t>
            </a:r>
            <a:r>
              <a:rPr lang="de-DE" sz="1100" dirty="0">
                <a:latin typeface="Consolas" pitchFamily="49" charset="0"/>
              </a:rPr>
              <a:t> _</a:t>
            </a:r>
            <a:r>
              <a:rPr lang="de-DE" sz="1100" dirty="0" err="1">
                <a:latin typeface="Consolas" pitchFamily="49" charset="0"/>
              </a:rPr>
              <a:t>lelem</a:t>
            </a:r>
            <a:r>
              <a:rPr lang="de-DE" sz="1100" dirty="0">
                <a:latin typeface="Consolas" pitchFamily="49" charset="0"/>
              </a:rPr>
              <a:t>{ </a:t>
            </a:r>
            <a:r>
              <a:rPr lang="de-DE" sz="1100" dirty="0" smtClean="0">
                <a:latin typeface="Consolas" pitchFamily="49" charset="0"/>
              </a:rPr>
              <a:t>/* </a:t>
            </a:r>
            <a:r>
              <a:rPr lang="de-DE" sz="1100" dirty="0">
                <a:latin typeface="Consolas" pitchFamily="49" charset="0"/>
              </a:rPr>
              <a:t>einfach verkette </a:t>
            </a:r>
            <a:r>
              <a:rPr lang="de-DE" sz="1100" dirty="0" smtClean="0">
                <a:latin typeface="Consolas" pitchFamily="49" charset="0"/>
              </a:rPr>
              <a:t>Liste */</a:t>
            </a:r>
            <a:endParaRPr lang="de-DE" sz="1100" dirty="0"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int wert;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dirty="0" err="1">
                <a:latin typeface="Consolas" pitchFamily="49" charset="0"/>
              </a:rPr>
              <a:t>struct</a:t>
            </a:r>
            <a:r>
              <a:rPr lang="de-DE" sz="1100" dirty="0">
                <a:latin typeface="Consolas" pitchFamily="49" charset="0"/>
              </a:rPr>
              <a:t> _</a:t>
            </a:r>
            <a:r>
              <a:rPr lang="de-DE" sz="1100" dirty="0" err="1">
                <a:latin typeface="Consolas" pitchFamily="49" charset="0"/>
              </a:rPr>
              <a:t>lelem</a:t>
            </a:r>
            <a:r>
              <a:rPr lang="de-DE" sz="1100" dirty="0">
                <a:latin typeface="Consolas" pitchFamily="49" charset="0"/>
              </a:rPr>
              <a:t> *</a:t>
            </a:r>
            <a:r>
              <a:rPr lang="de-DE" sz="1100" dirty="0" err="1">
                <a:latin typeface="Consolas" pitchFamily="49" charset="0"/>
              </a:rPr>
              <a:t>next</a:t>
            </a:r>
            <a:r>
              <a:rPr lang="de-DE" sz="1100" dirty="0">
                <a:latin typeface="Consolas" pitchFamily="49" charset="0"/>
              </a:rPr>
              <a:t>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} </a:t>
            </a:r>
            <a:r>
              <a:rPr lang="de-DE" sz="1100" dirty="0" err="1">
                <a:latin typeface="Consolas" pitchFamily="49" charset="0"/>
              </a:rPr>
              <a:t>ListRec</a:t>
            </a:r>
            <a:r>
              <a:rPr lang="de-DE" sz="1100" dirty="0">
                <a:latin typeface="Consolas" pitchFamily="49" charset="0"/>
              </a:rPr>
              <a:t>, *List;</a:t>
            </a:r>
          </a:p>
          <a:p>
            <a:pPr fontAlgn="auto" hangingPunct="1"/>
            <a:endParaRPr lang="de-DE" sz="800" dirty="0"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int </a:t>
            </a:r>
            <a:r>
              <a:rPr lang="de-DE" sz="1100" dirty="0" err="1">
                <a:latin typeface="Consolas" pitchFamily="49" charset="0"/>
              </a:rPr>
              <a:t>main</a:t>
            </a:r>
            <a:r>
              <a:rPr lang="de-DE" sz="1100" dirty="0">
                <a:latin typeface="Consolas" pitchFamily="49" charset="0"/>
              </a:rPr>
              <a:t> (void) {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int i, a;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List </a:t>
            </a:r>
            <a:r>
              <a:rPr lang="de-DE" sz="1100" dirty="0" err="1">
                <a:latin typeface="Consolas" pitchFamily="49" charset="0"/>
              </a:rPr>
              <a:t>el_anf</a:t>
            </a:r>
            <a:r>
              <a:rPr lang="de-DE" sz="1100" dirty="0">
                <a:latin typeface="Consolas" pitchFamily="49" charset="0"/>
              </a:rPr>
              <a:t>, </a:t>
            </a:r>
            <a:r>
              <a:rPr lang="de-DE" sz="1100" dirty="0" err="1">
                <a:latin typeface="Consolas" pitchFamily="49" charset="0"/>
              </a:rPr>
              <a:t>el</a:t>
            </a:r>
            <a:r>
              <a:rPr lang="de-DE" sz="1100" dirty="0">
                <a:latin typeface="Consolas" pitchFamily="49" charset="0"/>
              </a:rPr>
              <a:t>, l;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dirty="0" err="1">
                <a:latin typeface="Consolas" pitchFamily="49" charset="0"/>
              </a:rPr>
              <a:t>ListRec</a:t>
            </a:r>
            <a:r>
              <a:rPr lang="de-DE" sz="1100" dirty="0">
                <a:latin typeface="Consolas" pitchFamily="49" charset="0"/>
              </a:rPr>
              <a:t> q ={37, NULL}; /* Weitere Variable */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l = &amp;q; /* Zeiger auf eine Informationselement */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dirty="0" err="1">
                <a:latin typeface="Consolas" pitchFamily="49" charset="0"/>
              </a:rPr>
              <a:t>printf</a:t>
            </a:r>
            <a:r>
              <a:rPr lang="de-DE" sz="1100" dirty="0">
                <a:latin typeface="Consolas" pitchFamily="49" charset="0"/>
              </a:rPr>
              <a:t>("% Ausgabe des Wertes d\n", l-&gt;wert);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/*  Aufbau einer Liste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l = NULL;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for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(i=0;i&lt;3;i++){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printf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("Bitte Wert eingeben");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scanf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("%d", &amp;a);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= (List) 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malloc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sizeof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(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ListRec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));/*dynamisch erzeugter Speicherplatz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-&gt;wert = a; /* Wert einspeichern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-&gt;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next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= l; /* Alter Anfang ist Nachfolger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l = 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; /* Liste hat neuen 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anfang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smtClean="0">
                <a:solidFill>
                  <a:srgbClr val="0070C0"/>
                </a:solidFill>
                <a:latin typeface="Consolas" pitchFamily="49" charset="0"/>
              </a:rPr>
              <a:t>}</a:t>
            </a:r>
          </a:p>
          <a:p>
            <a:pPr fontAlgn="auto" hangingPunct="1"/>
            <a:endParaRPr lang="de-DE" sz="1100" b="1" dirty="0">
              <a:solidFill>
                <a:srgbClr val="0070C0"/>
              </a:solidFill>
              <a:latin typeface="Consolas" pitchFamily="49" charset="0"/>
            </a:endParaRP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/* Ausgabe der Liste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while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(l!=NULL){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printf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("%d, ", l-&gt;wert);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l = l-&gt;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next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smtClean="0">
                <a:solidFill>
                  <a:srgbClr val="0070C0"/>
                </a:solidFill>
                <a:latin typeface="Consolas" pitchFamily="49" charset="0"/>
              </a:rPr>
              <a:t>}</a:t>
            </a:r>
            <a:endParaRPr lang="de-DE" sz="1100" b="1" dirty="0">
              <a:solidFill>
                <a:srgbClr val="0070C0"/>
              </a:solidFill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}</a:t>
            </a:r>
            <a:endParaRPr lang="de-DE" sz="1100" dirty="0" smtClean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69061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304800" y="1142999"/>
            <a:ext cx="8515672" cy="5663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fontAlgn="auto" hangingPunct="1"/>
            <a:r>
              <a:rPr lang="de-DE" sz="1600" b="1" dirty="0" smtClean="0">
                <a:latin typeface="Consolas" pitchFamily="49" charset="0"/>
              </a:rPr>
              <a:t>Liste mit Verkettungen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#</a:t>
            </a:r>
            <a:r>
              <a:rPr lang="de-DE" sz="1100" dirty="0" err="1">
                <a:latin typeface="Consolas" pitchFamily="49" charset="0"/>
              </a:rPr>
              <a:t>include</a:t>
            </a:r>
            <a:r>
              <a:rPr lang="de-DE" sz="1100" dirty="0">
                <a:latin typeface="Consolas" pitchFamily="49" charset="0"/>
              </a:rPr>
              <a:t> &lt;</a:t>
            </a:r>
            <a:r>
              <a:rPr lang="de-DE" sz="1100" dirty="0" err="1">
                <a:latin typeface="Consolas" pitchFamily="49" charset="0"/>
              </a:rPr>
              <a:t>stdio.h</a:t>
            </a:r>
            <a:r>
              <a:rPr lang="de-DE" sz="1100" dirty="0">
                <a:latin typeface="Consolas" pitchFamily="49" charset="0"/>
              </a:rPr>
              <a:t>&gt;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#</a:t>
            </a:r>
            <a:r>
              <a:rPr lang="de-DE" sz="1100" dirty="0" err="1">
                <a:latin typeface="Consolas" pitchFamily="49" charset="0"/>
              </a:rPr>
              <a:t>include</a:t>
            </a:r>
            <a:r>
              <a:rPr lang="de-DE" sz="1100" dirty="0">
                <a:latin typeface="Consolas" pitchFamily="49" charset="0"/>
              </a:rPr>
              <a:t> &lt;</a:t>
            </a:r>
            <a:r>
              <a:rPr lang="de-DE" sz="1100" dirty="0" err="1">
                <a:latin typeface="Consolas" pitchFamily="49" charset="0"/>
              </a:rPr>
              <a:t>malloc.h</a:t>
            </a:r>
            <a:r>
              <a:rPr lang="de-DE" sz="1100" dirty="0">
                <a:latin typeface="Consolas" pitchFamily="49" charset="0"/>
              </a:rPr>
              <a:t>&gt;</a:t>
            </a:r>
          </a:p>
          <a:p>
            <a:pPr fontAlgn="auto" hangingPunct="1"/>
            <a:endParaRPr lang="de-DE" sz="800" dirty="0"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typedef </a:t>
            </a:r>
            <a:r>
              <a:rPr lang="de-DE" sz="1100" dirty="0" err="1">
                <a:latin typeface="Consolas" pitchFamily="49" charset="0"/>
              </a:rPr>
              <a:t>struct</a:t>
            </a:r>
            <a:r>
              <a:rPr lang="de-DE" sz="1100" dirty="0">
                <a:latin typeface="Consolas" pitchFamily="49" charset="0"/>
              </a:rPr>
              <a:t> _</a:t>
            </a:r>
            <a:r>
              <a:rPr lang="de-DE" sz="1100" dirty="0" err="1">
                <a:latin typeface="Consolas" pitchFamily="49" charset="0"/>
              </a:rPr>
              <a:t>lelem</a:t>
            </a:r>
            <a:r>
              <a:rPr lang="de-DE" sz="1100" dirty="0">
                <a:latin typeface="Consolas" pitchFamily="49" charset="0"/>
              </a:rPr>
              <a:t>{ </a:t>
            </a:r>
            <a:r>
              <a:rPr lang="de-DE" sz="1100" dirty="0" smtClean="0">
                <a:latin typeface="Consolas" pitchFamily="49" charset="0"/>
              </a:rPr>
              <a:t>/* </a:t>
            </a:r>
            <a:r>
              <a:rPr lang="de-DE" sz="1100" dirty="0">
                <a:latin typeface="Consolas" pitchFamily="49" charset="0"/>
              </a:rPr>
              <a:t>einfach verkette </a:t>
            </a:r>
            <a:r>
              <a:rPr lang="de-DE" sz="1100" dirty="0" smtClean="0">
                <a:latin typeface="Consolas" pitchFamily="49" charset="0"/>
              </a:rPr>
              <a:t>Liste */</a:t>
            </a:r>
            <a:endParaRPr lang="de-DE" sz="1100" dirty="0"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int wert;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dirty="0" err="1">
                <a:latin typeface="Consolas" pitchFamily="49" charset="0"/>
              </a:rPr>
              <a:t>struct</a:t>
            </a:r>
            <a:r>
              <a:rPr lang="de-DE" sz="1100" dirty="0">
                <a:latin typeface="Consolas" pitchFamily="49" charset="0"/>
              </a:rPr>
              <a:t> _</a:t>
            </a:r>
            <a:r>
              <a:rPr lang="de-DE" sz="1100" dirty="0" err="1">
                <a:latin typeface="Consolas" pitchFamily="49" charset="0"/>
              </a:rPr>
              <a:t>lelem</a:t>
            </a:r>
            <a:r>
              <a:rPr lang="de-DE" sz="1100" dirty="0">
                <a:latin typeface="Consolas" pitchFamily="49" charset="0"/>
              </a:rPr>
              <a:t> *</a:t>
            </a:r>
            <a:r>
              <a:rPr lang="de-DE" sz="1100" dirty="0" err="1">
                <a:latin typeface="Consolas" pitchFamily="49" charset="0"/>
              </a:rPr>
              <a:t>next</a:t>
            </a:r>
            <a:r>
              <a:rPr lang="de-DE" sz="1100" dirty="0">
                <a:latin typeface="Consolas" pitchFamily="49" charset="0"/>
              </a:rPr>
              <a:t>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} </a:t>
            </a:r>
            <a:r>
              <a:rPr lang="de-DE" sz="1100" dirty="0" err="1">
                <a:latin typeface="Consolas" pitchFamily="49" charset="0"/>
              </a:rPr>
              <a:t>ListRec</a:t>
            </a:r>
            <a:r>
              <a:rPr lang="de-DE" sz="1100" dirty="0">
                <a:latin typeface="Consolas" pitchFamily="49" charset="0"/>
              </a:rPr>
              <a:t>, *List;</a:t>
            </a:r>
          </a:p>
          <a:p>
            <a:pPr fontAlgn="auto" hangingPunct="1"/>
            <a:endParaRPr lang="de-DE" sz="800" dirty="0"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int </a:t>
            </a:r>
            <a:r>
              <a:rPr lang="de-DE" sz="1100" dirty="0" err="1">
                <a:latin typeface="Consolas" pitchFamily="49" charset="0"/>
              </a:rPr>
              <a:t>main</a:t>
            </a:r>
            <a:r>
              <a:rPr lang="de-DE" sz="1100" dirty="0">
                <a:latin typeface="Consolas" pitchFamily="49" charset="0"/>
              </a:rPr>
              <a:t> (void) {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int i, a;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List </a:t>
            </a:r>
            <a:r>
              <a:rPr lang="de-DE" sz="1100" dirty="0" err="1">
                <a:latin typeface="Consolas" pitchFamily="49" charset="0"/>
              </a:rPr>
              <a:t>el_anf</a:t>
            </a:r>
            <a:r>
              <a:rPr lang="de-DE" sz="1100" dirty="0">
                <a:latin typeface="Consolas" pitchFamily="49" charset="0"/>
              </a:rPr>
              <a:t>, </a:t>
            </a:r>
            <a:r>
              <a:rPr lang="de-DE" sz="1100" dirty="0" err="1">
                <a:latin typeface="Consolas" pitchFamily="49" charset="0"/>
              </a:rPr>
              <a:t>el</a:t>
            </a:r>
            <a:r>
              <a:rPr lang="de-DE" sz="1100" dirty="0">
                <a:latin typeface="Consolas" pitchFamily="49" charset="0"/>
              </a:rPr>
              <a:t>, l;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dirty="0" err="1">
                <a:latin typeface="Consolas" pitchFamily="49" charset="0"/>
              </a:rPr>
              <a:t>ListRec</a:t>
            </a:r>
            <a:r>
              <a:rPr lang="de-DE" sz="1100" dirty="0">
                <a:latin typeface="Consolas" pitchFamily="49" charset="0"/>
              </a:rPr>
              <a:t> q ={37, NULL}; /* Weitere Variable */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l = &amp;q; /* Zeiger auf eine Informationselement */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dirty="0" err="1">
                <a:latin typeface="Consolas" pitchFamily="49" charset="0"/>
              </a:rPr>
              <a:t>printf</a:t>
            </a:r>
            <a:r>
              <a:rPr lang="de-DE" sz="1100" dirty="0">
                <a:latin typeface="Consolas" pitchFamily="49" charset="0"/>
              </a:rPr>
              <a:t>("% Ausgabe des Wertes d\n", l-&gt;wert);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/*  Aufbau einer Liste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l = NULL;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for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(i=0;i&lt;3;i++){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printf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("Bitte Wert eingeben");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scanf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("%d", &amp;a);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= (List) 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malloc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sizeof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(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ListRec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));/*dynamisch erzeugter Speicherplatz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-&gt;wert = a; /* Wert einspeichern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-&gt;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next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= l; /* Alter Anfang ist Nachfolger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l = 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el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; /* Liste hat neuen 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anfang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smtClean="0">
                <a:solidFill>
                  <a:srgbClr val="0070C0"/>
                </a:solidFill>
                <a:latin typeface="Consolas" pitchFamily="49" charset="0"/>
              </a:rPr>
              <a:t>}</a:t>
            </a:r>
          </a:p>
          <a:p>
            <a:pPr fontAlgn="auto" hangingPunct="1"/>
            <a:endParaRPr lang="de-DE" sz="1100" b="1" dirty="0">
              <a:solidFill>
                <a:srgbClr val="0070C0"/>
              </a:solidFill>
              <a:latin typeface="Consolas" pitchFamily="49" charset="0"/>
            </a:endParaRP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/* Ausgabe der Liste */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while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(l!=NULL){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printf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("%d, ", l-&gt;wert);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	l = l-&gt;</a:t>
            </a:r>
            <a:r>
              <a:rPr lang="de-DE" sz="1100" b="1" dirty="0" err="1">
                <a:solidFill>
                  <a:srgbClr val="0070C0"/>
                </a:solidFill>
                <a:latin typeface="Consolas" pitchFamily="49" charset="0"/>
              </a:rPr>
              <a:t>next</a:t>
            </a:r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;</a:t>
            </a:r>
          </a:p>
          <a:p>
            <a:pPr fontAlgn="auto" hangingPunct="1"/>
            <a:r>
              <a:rPr lang="de-DE" sz="1100" b="1" dirty="0">
                <a:solidFill>
                  <a:srgbClr val="0070C0"/>
                </a:solidFill>
                <a:latin typeface="Consolas" pitchFamily="49" charset="0"/>
              </a:rPr>
              <a:t>	</a:t>
            </a:r>
            <a:r>
              <a:rPr lang="de-DE" sz="1100" b="1" dirty="0" smtClean="0">
                <a:solidFill>
                  <a:srgbClr val="0070C0"/>
                </a:solidFill>
                <a:latin typeface="Consolas" pitchFamily="49" charset="0"/>
              </a:rPr>
              <a:t>}</a:t>
            </a:r>
            <a:endParaRPr lang="de-DE" sz="1100" b="1" dirty="0">
              <a:solidFill>
                <a:srgbClr val="0070C0"/>
              </a:solidFill>
              <a:latin typeface="Consolas" pitchFamily="49" charset="0"/>
            </a:endParaRP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	</a:t>
            </a:r>
          </a:p>
          <a:p>
            <a:pPr fontAlgn="auto" hangingPunct="1"/>
            <a:r>
              <a:rPr lang="de-DE" sz="1100" dirty="0">
                <a:latin typeface="Consolas" pitchFamily="49" charset="0"/>
              </a:rPr>
              <a:t>}</a:t>
            </a:r>
            <a:endParaRPr lang="de-DE" sz="1100" dirty="0" smtClean="0">
              <a:latin typeface="Consolas" pitchFamily="49" charset="0"/>
            </a:endParaRPr>
          </a:p>
        </p:txBody>
      </p:sp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85799" y="6400800"/>
            <a:ext cx="6468063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1C6170-EB42-44E9-AF72-4266241D0015}" type="slidenum">
              <a:rPr lang="en-US" smtClean="0"/>
              <a:pPr/>
              <a:t>32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 smtClean="0"/>
              <a:t>4. Realisierungen von Listen</a:t>
            </a:r>
            <a:endParaRPr lang="de-DE" sz="3200" i="1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7" name="Textfeld 7"/>
          <p:cNvSpPr txBox="1"/>
          <p:nvPr/>
        </p:nvSpPr>
        <p:spPr>
          <a:xfrm>
            <a:off x="4752020" y="5942276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8" name="Textfeld 8"/>
          <p:cNvSpPr txBox="1"/>
          <p:nvPr/>
        </p:nvSpPr>
        <p:spPr>
          <a:xfrm>
            <a:off x="4752020" y="5533201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23</a:t>
            </a:r>
            <a:endParaRPr lang="de-DE" dirty="0"/>
          </a:p>
        </p:txBody>
      </p:sp>
      <p:sp>
        <p:nvSpPr>
          <p:cNvPr id="9" name="Textfeld 9"/>
          <p:cNvSpPr txBox="1"/>
          <p:nvPr/>
        </p:nvSpPr>
        <p:spPr>
          <a:xfrm>
            <a:off x="5958154" y="5931901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0" name="Textfeld 10"/>
          <p:cNvSpPr txBox="1"/>
          <p:nvPr/>
        </p:nvSpPr>
        <p:spPr>
          <a:xfrm>
            <a:off x="5958154" y="5537598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18</a:t>
            </a:r>
            <a:endParaRPr lang="de-DE" dirty="0"/>
          </a:p>
        </p:txBody>
      </p:sp>
      <p:sp>
        <p:nvSpPr>
          <p:cNvPr id="11" name="Textfeld 11"/>
          <p:cNvSpPr txBox="1"/>
          <p:nvPr/>
        </p:nvSpPr>
        <p:spPr>
          <a:xfrm>
            <a:off x="7216042" y="5936472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null</a:t>
            </a:r>
            <a:endParaRPr lang="de-DE" dirty="0"/>
          </a:p>
        </p:txBody>
      </p:sp>
      <p:sp>
        <p:nvSpPr>
          <p:cNvPr id="13" name="Textfeld 19"/>
          <p:cNvSpPr txBox="1"/>
          <p:nvPr/>
        </p:nvSpPr>
        <p:spPr>
          <a:xfrm>
            <a:off x="7217168" y="5531791"/>
            <a:ext cx="648072" cy="40011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27</a:t>
            </a:r>
            <a:endParaRPr lang="de-DE" dirty="0"/>
          </a:p>
        </p:txBody>
      </p:sp>
      <p:sp>
        <p:nvSpPr>
          <p:cNvPr id="14" name="Textfeld 20"/>
          <p:cNvSpPr txBox="1"/>
          <p:nvPr/>
        </p:nvSpPr>
        <p:spPr>
          <a:xfrm>
            <a:off x="5352960" y="1054586"/>
            <a:ext cx="1235264" cy="40011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l = NULL</a:t>
            </a:r>
            <a:endParaRPr lang="de-DE" dirty="0"/>
          </a:p>
        </p:txBody>
      </p:sp>
      <p:cxnSp>
        <p:nvCxnSpPr>
          <p:cNvPr id="16" name="Gerade Verbindung mit Pfeil 23"/>
          <p:cNvCxnSpPr>
            <a:stCxn id="19" idx="3"/>
            <a:endCxn id="8" idx="1"/>
          </p:cNvCxnSpPr>
          <p:nvPr/>
        </p:nvCxnSpPr>
        <p:spPr bwMode="auto">
          <a:xfrm>
            <a:off x="3964669" y="5331736"/>
            <a:ext cx="787351" cy="401520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7" name="Gerade Verbindung mit Pfeil 25"/>
          <p:cNvCxnSpPr>
            <a:endCxn id="10" idx="1"/>
          </p:cNvCxnSpPr>
          <p:nvPr/>
        </p:nvCxnSpPr>
        <p:spPr bwMode="auto">
          <a:xfrm flipV="1">
            <a:off x="4950042" y="5737653"/>
            <a:ext cx="1008112" cy="448017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8" name="Gerade Verbindung mit Pfeil 27"/>
          <p:cNvCxnSpPr>
            <a:endCxn id="13" idx="1"/>
          </p:cNvCxnSpPr>
          <p:nvPr/>
        </p:nvCxnSpPr>
        <p:spPr bwMode="auto">
          <a:xfrm flipV="1">
            <a:off x="6281064" y="5731846"/>
            <a:ext cx="936104" cy="448017"/>
          </a:xfrm>
          <a:prstGeom prst="straightConnector1">
            <a:avLst/>
          </a:prstGeom>
          <a:solidFill>
            <a:schemeClr val="accent1"/>
          </a:solidFill>
          <a:ln w="25400" cap="sq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pSp>
        <p:nvGrpSpPr>
          <p:cNvPr id="5" name="Group 4"/>
          <p:cNvGrpSpPr/>
          <p:nvPr/>
        </p:nvGrpSpPr>
        <p:grpSpPr>
          <a:xfrm>
            <a:off x="5284004" y="1670720"/>
            <a:ext cx="1583403" cy="800220"/>
            <a:chOff x="5284004" y="1670720"/>
            <a:chExt cx="1583403" cy="800220"/>
          </a:xfrm>
        </p:grpSpPr>
        <p:sp>
          <p:nvSpPr>
            <p:cNvPr id="6" name="Textfeld 6"/>
            <p:cNvSpPr txBox="1"/>
            <p:nvPr/>
          </p:nvSpPr>
          <p:spPr>
            <a:xfrm>
              <a:off x="6219335" y="1670720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sp>
          <p:nvSpPr>
            <p:cNvPr id="12" name="Textfeld 18"/>
            <p:cNvSpPr txBox="1"/>
            <p:nvPr/>
          </p:nvSpPr>
          <p:spPr>
            <a:xfrm>
              <a:off x="6219335" y="2070830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cxnSp>
          <p:nvCxnSpPr>
            <p:cNvPr id="15" name="Gerade Verbindung mit Pfeil 22"/>
            <p:cNvCxnSpPr>
              <a:endCxn id="6" idx="1"/>
            </p:cNvCxnSpPr>
            <p:nvPr/>
          </p:nvCxnSpPr>
          <p:spPr bwMode="auto">
            <a:xfrm>
              <a:off x="5724128" y="1870775"/>
              <a:ext cx="495207" cy="0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4" name="TextBox 3"/>
            <p:cNvSpPr txBox="1"/>
            <p:nvPr/>
          </p:nvSpPr>
          <p:spPr>
            <a:xfrm>
              <a:off x="5284004" y="1670720"/>
              <a:ext cx="3850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/>
                <a:t>el</a:t>
              </a:r>
              <a:endParaRPr lang="de-DE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337270" y="2738374"/>
            <a:ext cx="1583403" cy="707887"/>
            <a:chOff x="5284004" y="1670720"/>
            <a:chExt cx="1583403" cy="707887"/>
          </a:xfrm>
        </p:grpSpPr>
        <p:sp>
          <p:nvSpPr>
            <p:cNvPr id="25" name="Textfeld 6"/>
            <p:cNvSpPr txBox="1"/>
            <p:nvPr/>
          </p:nvSpPr>
          <p:spPr>
            <a:xfrm>
              <a:off x="6219335" y="1670720"/>
              <a:ext cx="648072" cy="400110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27</a:t>
              </a:r>
              <a:endParaRPr lang="de-DE" dirty="0"/>
            </a:p>
          </p:txBody>
        </p:sp>
        <p:sp>
          <p:nvSpPr>
            <p:cNvPr id="26" name="Textfeld 18"/>
            <p:cNvSpPr txBox="1"/>
            <p:nvPr/>
          </p:nvSpPr>
          <p:spPr>
            <a:xfrm>
              <a:off x="6219335" y="2070830"/>
              <a:ext cx="648072" cy="307777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de-DE" sz="1400" dirty="0" smtClean="0"/>
                <a:t>NULL</a:t>
              </a:r>
              <a:endParaRPr lang="de-DE" sz="1400" dirty="0"/>
            </a:p>
          </p:txBody>
        </p:sp>
        <p:cxnSp>
          <p:nvCxnSpPr>
            <p:cNvPr id="27" name="Gerade Verbindung mit Pfeil 22"/>
            <p:cNvCxnSpPr>
              <a:endCxn id="25" idx="1"/>
            </p:cNvCxnSpPr>
            <p:nvPr/>
          </p:nvCxnSpPr>
          <p:spPr bwMode="auto">
            <a:xfrm>
              <a:off x="5724128" y="1870775"/>
              <a:ext cx="495207" cy="0"/>
            </a:xfrm>
            <a:prstGeom prst="straightConnector1">
              <a:avLst/>
            </a:prstGeom>
            <a:solidFill>
              <a:schemeClr val="accent1"/>
            </a:solidFill>
            <a:ln w="254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5284004" y="1670720"/>
              <a:ext cx="3850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/>
                <a:t>el</a:t>
              </a:r>
              <a:endParaRPr lang="de-DE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722295" y="5131681"/>
            <a:ext cx="242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7995129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smtClean="0"/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04F263-1FC1-4962-B72A-927858EFEF1E}" type="slidenum">
              <a:rPr lang="en-US" smtClean="0"/>
              <a:pPr/>
              <a:t>33</a:t>
            </a:fld>
            <a:endParaRPr lang="en-US" sz="1400" smtClean="0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0963"/>
            <a:ext cx="7848600" cy="1066800"/>
          </a:xfrm>
        </p:spPr>
        <p:txBody>
          <a:bodyPr/>
          <a:lstStyle/>
          <a:p>
            <a:r>
              <a:rPr lang="de-DE" sz="3600" dirty="0" smtClean="0"/>
              <a:t>5. Alte Klausuraufgabe</a:t>
            </a:r>
            <a:endParaRPr lang="de-DE" i="1" baseline="300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0" y="908720"/>
            <a:ext cx="6192688" cy="589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5858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Aufgaben</a:t>
            </a:r>
            <a:r>
              <a:rPr lang="en-US" dirty="0" smtClean="0"/>
              <a:t> in </a:t>
            </a:r>
            <a:r>
              <a:rPr lang="en-US" dirty="0" err="1" smtClean="0"/>
              <a:t>Übung</a:t>
            </a:r>
            <a:endParaRPr lang="en-US" dirty="0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105345" y="1124744"/>
            <a:ext cx="9003159" cy="4800600"/>
          </a:xfrm>
        </p:spPr>
        <p:txBody>
          <a:bodyPr/>
          <a:lstStyle/>
          <a:p>
            <a:pPr marL="0" lvl="0" indent="0">
              <a:spcBef>
                <a:spcPct val="0"/>
              </a:spcBef>
              <a:buNone/>
            </a:pP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 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*last;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kumimoji="0" lang="de-DE" sz="1200" kern="1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de-DE" sz="12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kumimoji="0" lang="de-DE" sz="12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*Person</a:t>
            </a:r>
            <a:r>
              <a:rPr kumimoji="0" lang="de-DE" sz="1200" kern="1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>
              <a:spcBef>
                <a:spcPct val="0"/>
              </a:spcBef>
              <a:buNone/>
            </a:pPr>
            <a:endParaRPr kumimoji="0" lang="de-DE" sz="1200" kern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>
              <a:spcBef>
                <a:spcPct val="0"/>
              </a:spcBef>
              <a:buAutoNum type="arabicPeriod"/>
            </a:pPr>
            <a:r>
              <a:rPr kumimoji="0" lang="de-DE" sz="1600" kern="1200" dirty="0" smtClean="0">
                <a:solidFill>
                  <a:srgbClr val="000000"/>
                </a:solidFill>
                <a:latin typeface="Arial" charset="0"/>
              </a:rPr>
              <a:t>Programmieren sie in der Liste der Personen (Einfachverkettung) folgende Methoden</a:t>
            </a:r>
          </a:p>
          <a:p>
            <a:pPr marL="457200" lvl="1" indent="0">
              <a:spcBef>
                <a:spcPct val="0"/>
              </a:spcBef>
              <a:buNone/>
            </a:pP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Vorgabe: Eine Funktion Eingabe der Liste</a:t>
            </a:r>
          </a:p>
          <a:p>
            <a:pPr lvl="1">
              <a:spcBef>
                <a:spcPct val="0"/>
              </a:spcBef>
              <a:buFontTx/>
              <a:buAutoNum type="arabicPeriod"/>
            </a:pP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Ausgabe </a:t>
            </a:r>
            <a:r>
              <a:rPr kumimoji="0" lang="de-DE" sz="1400" kern="1200" dirty="0">
                <a:solidFill>
                  <a:srgbClr val="000000"/>
                </a:solidFill>
                <a:latin typeface="Arial" charset="0"/>
              </a:rPr>
              <a:t>von </a:t>
            </a: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Werten der Listenelemente</a:t>
            </a:r>
          </a:p>
          <a:p>
            <a:pPr lvl="1">
              <a:spcBef>
                <a:spcPct val="0"/>
              </a:spcBef>
              <a:buFontTx/>
              <a:buAutoNum type="arabicPeriod"/>
            </a:pP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Zählen der Anzahl der Listenelemente</a:t>
            </a:r>
          </a:p>
          <a:p>
            <a:pPr lvl="1">
              <a:spcBef>
                <a:spcPct val="0"/>
              </a:spcBef>
              <a:buFontTx/>
              <a:buAutoNum type="arabicPeriod"/>
            </a:pP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Bestimmen des maximalen Immatrikulationsjahres</a:t>
            </a:r>
          </a:p>
          <a:p>
            <a:pPr lvl="1">
              <a:spcBef>
                <a:spcPct val="0"/>
              </a:spcBef>
              <a:buFontTx/>
              <a:buAutoNum type="arabicPeriod"/>
            </a:pPr>
            <a:r>
              <a:rPr kumimoji="0" lang="de-DE" sz="1400" kern="1200" dirty="0">
                <a:solidFill>
                  <a:srgbClr val="000000"/>
                </a:solidFill>
                <a:latin typeface="Arial" charset="0"/>
              </a:rPr>
              <a:t>Bestimmen des </a:t>
            </a: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mittleren Elementes der Liste (Zeiger auf Mitte)</a:t>
            </a:r>
          </a:p>
          <a:p>
            <a:pPr lvl="1">
              <a:spcBef>
                <a:spcPct val="0"/>
              </a:spcBef>
              <a:buFontTx/>
              <a:buAutoNum type="arabicPeriod"/>
            </a:pP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Bestimmen des kleinsten Namens (Alphabetische Ordnung) - Nutzung der Funktion strcmp zum vergleich </a:t>
            </a:r>
            <a:r>
              <a:rPr kumimoji="0" lang="de-DE" sz="1400" kern="1200" dirty="0">
                <a:solidFill>
                  <a:srgbClr val="000000"/>
                </a:solidFill>
                <a:latin typeface="Arial" charset="0"/>
              </a:rPr>
              <a:t>von Strings in </a:t>
            </a: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C ( aus #</a:t>
            </a:r>
            <a:r>
              <a:rPr kumimoji="0" lang="de-DE" sz="1400" kern="1200" dirty="0" err="1" smtClean="0">
                <a:solidFill>
                  <a:srgbClr val="000000"/>
                </a:solidFill>
                <a:latin typeface="Arial" charset="0"/>
              </a:rPr>
              <a:t>include</a:t>
            </a: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 &lt;</a:t>
            </a:r>
            <a:r>
              <a:rPr kumimoji="0" lang="de-DE" sz="1400" kern="1200" dirty="0" err="1" smtClean="0">
                <a:solidFill>
                  <a:srgbClr val="000000"/>
                </a:solidFill>
                <a:latin typeface="Arial" charset="0"/>
              </a:rPr>
              <a:t>string.h</a:t>
            </a: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&gt;)! </a:t>
            </a:r>
          </a:p>
          <a:p>
            <a:pPr lvl="1">
              <a:spcBef>
                <a:spcPct val="0"/>
              </a:spcBef>
              <a:buFontTx/>
              <a:buAutoNum type="arabicPeriod"/>
            </a:pPr>
            <a:endParaRPr kumimoji="0" lang="de-DE" sz="1400" kern="1200" dirty="0" smtClean="0">
              <a:solidFill>
                <a:srgbClr val="000000"/>
              </a:solidFill>
              <a:latin typeface="Arial" charset="0"/>
            </a:endParaRPr>
          </a:p>
          <a:p>
            <a:pPr marL="457200" lvl="1" indent="0">
              <a:spcBef>
                <a:spcPct val="0"/>
              </a:spcBef>
              <a:buNone/>
            </a:pPr>
            <a:r>
              <a:rPr kumimoji="0" lang="de-DE" sz="1400" kern="1200" dirty="0" smtClean="0">
                <a:solidFill>
                  <a:srgbClr val="000000"/>
                </a:solidFill>
                <a:latin typeface="Arial" charset="0"/>
              </a:rPr>
              <a:t>	</a:t>
            </a:r>
            <a:r>
              <a:rPr kumimoji="0" lang="de-DE" sz="1400" kern="1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kumimoji="0" lang="de-DE" sz="14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strcmp(</a:t>
            </a:r>
            <a:r>
              <a:rPr kumimoji="0" lang="de-DE" sz="14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kumimoji="0" lang="de-DE" sz="14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de-DE" sz="14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kumimoji="0" lang="de-DE" sz="14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*s1, </a:t>
            </a:r>
            <a:r>
              <a:rPr kumimoji="0" lang="de-DE" sz="14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kumimoji="0" lang="de-DE" sz="14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de-DE" sz="1400" kern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kumimoji="0" lang="de-DE" sz="14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*s2);</a:t>
            </a:r>
          </a:p>
          <a:p>
            <a:pPr lvl="1">
              <a:spcBef>
                <a:spcPct val="0"/>
              </a:spcBef>
              <a:buFontTx/>
              <a:buAutoNum type="arabicPeriod"/>
            </a:pPr>
            <a:endParaRPr kumimoji="0" lang="de-DE" sz="1400" kern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57250" lvl="2" indent="0">
              <a:spcBef>
                <a:spcPct val="0"/>
              </a:spcBef>
              <a:buNone/>
            </a:pPr>
            <a:r>
              <a:rPr kumimoji="0" lang="de-DE" sz="10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Sind beide Strings identisch, gibt diese Funktion 0 zurück. Ist der String s1 kleiner als s2, ist </a:t>
            </a:r>
            <a:r>
              <a:rPr kumimoji="0" lang="de-DE" sz="1000" kern="1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der Rückgabewert </a:t>
            </a:r>
            <a:r>
              <a:rPr kumimoji="0" lang="de-DE" sz="1000" kern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kleiner als 0; und ist s1 größer als s2, dann ist der Rückgabewert größer als 0</a:t>
            </a:r>
            <a:r>
              <a:rPr kumimoji="0" lang="de-DE" sz="1000" kern="1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marL="857250" lvl="2" indent="0">
              <a:spcBef>
                <a:spcPct val="0"/>
              </a:spcBef>
              <a:buNone/>
            </a:pPr>
            <a:endParaRPr kumimoji="0" lang="de-DE" sz="1000" kern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204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FB41163-1BAE-4D0F-BC07-AD8498D210A6}" type="slidenum">
              <a:rPr lang="en-US" smtClean="0"/>
              <a:pPr/>
              <a:t>34</a:t>
            </a:fld>
            <a:endParaRPr lang="en-US" sz="1400" smtClean="0"/>
          </a:p>
        </p:txBody>
      </p:sp>
      <p:sp>
        <p:nvSpPr>
          <p:cNvPr id="51205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685800" y="6400800"/>
            <a:ext cx="6982544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2277106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 </a:t>
            </a:r>
            <a:r>
              <a:rPr lang="en-US" dirty="0" err="1" smtClean="0"/>
              <a:t>Vorgabe</a:t>
            </a:r>
            <a:r>
              <a:rPr lang="en-US" dirty="0" smtClean="0"/>
              <a:t>– </a:t>
            </a:r>
            <a:r>
              <a:rPr lang="en-US" dirty="0" err="1"/>
              <a:t>t</a:t>
            </a:r>
            <a:r>
              <a:rPr lang="en-US" dirty="0" err="1" smtClean="0"/>
              <a:t>ypePersonB.c</a:t>
            </a:r>
            <a:endParaRPr lang="en-US" dirty="0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105345" y="1124744"/>
            <a:ext cx="9003159" cy="4800600"/>
          </a:xfrm>
        </p:spPr>
        <p:txBody>
          <a:bodyPr/>
          <a:lstStyle/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malloc.h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string.h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*last;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_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*Person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1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eingabe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(Person *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{/* Referenzparameter Person ! */</a:t>
            </a: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n=0;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[20],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vorname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[20];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Person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("Bitte Vorname Name Matrikelnummer und Jahr eingeben:\n",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vorname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("%s %s %d %d",vorname,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,&amp;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,&amp;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== 4){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("%d %s %s %d\n",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matnr,name,vorname,jahr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(Person)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malloc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PersonRec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));//dynamisch erzeugter Speicherplatz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*)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malloc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vorname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)+1);//dynamisch erzeugter Speicherplatz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-&gt;last = 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*)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malloc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)+1);//dynamisch erzeugter Speicherplatz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first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vorname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-&gt;last,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*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*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pzeig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n++;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("Bitte Vorname Name Matrikelnummer und Jahr eingeben:\n",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vorname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matnr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204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FB41163-1BAE-4D0F-BC07-AD8498D210A6}" type="slidenum">
              <a:rPr lang="en-US" smtClean="0"/>
              <a:pPr/>
              <a:t>35</a:t>
            </a:fld>
            <a:endParaRPr lang="en-US" sz="1400" smtClean="0"/>
          </a:p>
        </p:txBody>
      </p:sp>
      <p:sp>
        <p:nvSpPr>
          <p:cNvPr id="51205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685800" y="6400800"/>
            <a:ext cx="6982544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2494413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</a:t>
            </a:r>
            <a:r>
              <a:rPr lang="en-US" dirty="0" err="1" smtClean="0"/>
              <a:t>Lösungen</a:t>
            </a:r>
            <a:r>
              <a:rPr lang="en-US" dirty="0" smtClean="0"/>
              <a:t> – </a:t>
            </a:r>
            <a:r>
              <a:rPr lang="en-US" dirty="0" err="1"/>
              <a:t>typePersonB.c</a:t>
            </a:r>
            <a:endParaRPr lang="en-US" dirty="0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105345" y="1124744"/>
            <a:ext cx="9003159" cy="4800600"/>
          </a:xfrm>
        </p:spPr>
        <p:txBody>
          <a:bodyPr/>
          <a:lstStyle/>
          <a:p>
            <a:pPr marL="400050" lvl="1" indent="0">
              <a:lnSpc>
                <a:spcPct val="80000"/>
              </a:lnSpc>
              <a:buNone/>
            </a:pP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ausgabe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(Person p){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/* Implementieren Sie Funktion zur Ausgabe der Werte */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(p!=NULL){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("%d %d %s %s\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n",p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matr,p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year,p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first,p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-&gt;last);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p = 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400050" lvl="1" indent="0">
              <a:lnSpc>
                <a:spcPct val="80000"/>
              </a:lnSpc>
              <a:buNone/>
            </a:pP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zaehlen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(Person p){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n=0;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/* Implementieren Sie Funktion zum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Zaehlen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der Werte */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(p!=NULL){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n++;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p = 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400050" lvl="1" indent="0">
              <a:lnSpc>
                <a:spcPct val="80000"/>
              </a:lnSpc>
              <a:buNone/>
            </a:pP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(Person p){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/* Implementieren Sie Funktion zum Bestimmen des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immatrikulationsjahres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(p!=NULL){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if(p-&gt;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year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p = 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1204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FB41163-1BAE-4D0F-BC07-AD8498D210A6}" type="slidenum">
              <a:rPr lang="en-US" smtClean="0"/>
              <a:pPr/>
              <a:t>36</a:t>
            </a:fld>
            <a:endParaRPr lang="en-US" sz="1400" smtClean="0"/>
          </a:p>
        </p:txBody>
      </p:sp>
      <p:sp>
        <p:nvSpPr>
          <p:cNvPr id="51205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685800" y="6400800"/>
            <a:ext cx="6982544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67045189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</a:t>
            </a:r>
            <a:r>
              <a:rPr lang="en-US" dirty="0" err="1" smtClean="0"/>
              <a:t>Lösungen</a:t>
            </a:r>
            <a:r>
              <a:rPr lang="en-US" dirty="0" smtClean="0"/>
              <a:t> – </a:t>
            </a:r>
            <a:r>
              <a:rPr lang="en-US" dirty="0" err="1"/>
              <a:t>typePersonB.c</a:t>
            </a:r>
            <a:endParaRPr lang="en-US" dirty="0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105345" y="1124744"/>
            <a:ext cx="9003159" cy="4800600"/>
          </a:xfrm>
        </p:spPr>
        <p:txBody>
          <a:bodyPr/>
          <a:lstStyle/>
          <a:p>
            <a:pPr marL="400050" lvl="1" indent="0">
              <a:lnSpc>
                <a:spcPct val="80000"/>
              </a:lnSpc>
              <a:buNone/>
            </a:pP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Person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mitte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(Person p){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/* Implementieren Sie Funktion die das mittlere Element der Liste ermittelt */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Person s = p;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(p!=NULL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 /* p ist doppelt so schnell wie s !*/</a:t>
            </a: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p = 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s = s-&gt;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de-DE" sz="1100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("Mitte %d %d\n", p, s);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if(p!=NULL) p = 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1204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FB41163-1BAE-4D0F-BC07-AD8498D210A6}" type="slidenum">
              <a:rPr lang="en-US" smtClean="0"/>
              <a:pPr/>
              <a:t>37</a:t>
            </a:fld>
            <a:endParaRPr lang="en-US" sz="1400" smtClean="0"/>
          </a:p>
        </p:txBody>
      </p:sp>
      <p:sp>
        <p:nvSpPr>
          <p:cNvPr id="51205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685800" y="6400800"/>
            <a:ext cx="6982544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23534877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</a:t>
            </a:r>
            <a:r>
              <a:rPr lang="en-US" dirty="0" err="1" smtClean="0"/>
              <a:t>Lösungen</a:t>
            </a:r>
            <a:r>
              <a:rPr lang="en-US" dirty="0" smtClean="0"/>
              <a:t> – </a:t>
            </a:r>
            <a:r>
              <a:rPr lang="en-US" dirty="0" err="1"/>
              <a:t>typePersonB.c</a:t>
            </a:r>
            <a:endParaRPr lang="en-US" dirty="0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105345" y="1124744"/>
            <a:ext cx="9003159" cy="4800600"/>
          </a:xfrm>
        </p:spPr>
        <p:txBody>
          <a:bodyPr/>
          <a:lstStyle/>
          <a:p>
            <a:pPr marL="400050" lvl="1" indent="0">
              <a:lnSpc>
                <a:spcPct val="80000"/>
              </a:lnSpc>
              <a:buNone/>
            </a:pPr>
            <a:r>
              <a:rPr lang="de-DE" sz="1100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(Person p){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/* Implementieren Sie Funktion zum Bestimmen des ersten Namens in alphabetischer Reihenfolge */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if(p!=NULL)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=p-&gt;last;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NULL;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(p!=NULL){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if(</a:t>
            </a:r>
            <a:r>
              <a:rPr lang="de-DE" sz="1100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strcmp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de-DE" sz="1100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p-&gt;last)&gt;0)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de-DE" sz="1100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p-&gt;last;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 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p-&gt;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400050" lvl="1" indent="0">
              <a:lnSpc>
                <a:spcPct val="80000"/>
              </a:lnSpc>
              <a:buNone/>
            </a:pPr>
            <a:endParaRPr lang="de-DE" sz="11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de-DE" sz="11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int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*n;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Person l=NULL;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eingabe(&amp;l);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("Eingegeben wurden %d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Datensaetze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\n",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ausgabe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zaehlen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Gezaehlt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wurden %d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Datensaetze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\n",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maxJahr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("Max Jahr ist %d \n",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anz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n = 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minName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("Min </a:t>
            </a:r>
            <a:r>
              <a:rPr lang="de-DE" sz="11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 ist 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%s\n", n);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de-DE" sz="11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400050" lvl="1" indent="0">
              <a:lnSpc>
                <a:spcPct val="80000"/>
              </a:lnSpc>
              <a:buNone/>
            </a:pPr>
            <a:r>
              <a:rPr lang="de-DE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1204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FB41163-1BAE-4D0F-BC07-AD8498D210A6}" type="slidenum">
              <a:rPr lang="en-US" smtClean="0"/>
              <a:pPr/>
              <a:t>38</a:t>
            </a:fld>
            <a:endParaRPr lang="en-US" sz="1400" smtClean="0"/>
          </a:p>
        </p:txBody>
      </p:sp>
      <p:sp>
        <p:nvSpPr>
          <p:cNvPr id="51205" name="Footer Placeholder 7"/>
          <p:cNvSpPr>
            <a:spLocks noGrp="1"/>
          </p:cNvSpPr>
          <p:nvPr>
            <p:ph type="ftr" sz="quarter" idx="10"/>
          </p:nvPr>
        </p:nvSpPr>
        <p:spPr>
          <a:xfrm>
            <a:off x="685800" y="6400800"/>
            <a:ext cx="6982544" cy="304800"/>
          </a:xfrm>
          <a:noFill/>
        </p:spPr>
        <p:txBody>
          <a:bodyPr/>
          <a:lstStyle/>
          <a:p>
            <a:r>
              <a:rPr lang="de-DE" smtClean="0"/>
              <a:t>Imperative Programmierung - Übung 11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26927438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rn">
  <a:themeElements>
    <a:clrScheme name="">
      <a:dk1>
        <a:srgbClr val="000000"/>
      </a:dk1>
      <a:lt1>
        <a:srgbClr val="FFFF99"/>
      </a:lt1>
      <a:dk2>
        <a:srgbClr val="616161"/>
      </a:dk2>
      <a:lt2>
        <a:srgbClr val="FFFFCC"/>
      </a:lt2>
      <a:accent1>
        <a:srgbClr val="009999"/>
      </a:accent1>
      <a:accent2>
        <a:srgbClr val="FF9933"/>
      </a:accent2>
      <a:accent3>
        <a:srgbClr val="FFFFCA"/>
      </a:accent3>
      <a:accent4>
        <a:srgbClr val="000000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Moder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ern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rn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rn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W:\OFFICE97\Vorlagen\Designs\MODERN.POT</Template>
  <TotalTime>0</TotalTime>
  <Words>2319</Words>
  <Application>Microsoft Office PowerPoint</Application>
  <PresentationFormat>On-screen Show (4:3)</PresentationFormat>
  <Paragraphs>971</Paragraphs>
  <Slides>38</Slides>
  <Notes>26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Cambria Math</vt:lpstr>
      <vt:lpstr>Consolas</vt:lpstr>
      <vt:lpstr>Courier New</vt:lpstr>
      <vt:lpstr>Times</vt:lpstr>
      <vt:lpstr>Times New Roman</vt:lpstr>
      <vt:lpstr>Modern</vt:lpstr>
      <vt:lpstr>11. Übung 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1. Auswertung Hausaufgabenserie 4</vt:lpstr>
      <vt:lpstr>2. Ideen Hausaufgabenserie 5 (40 Zusatzpunkte )</vt:lpstr>
      <vt:lpstr>2. Ideen Hausaufgabenserie 5</vt:lpstr>
      <vt:lpstr>2. Ideen Hausaufgabenserie 5</vt:lpstr>
      <vt:lpstr>2. Ideen Hausaufgabenserie 5</vt:lpstr>
      <vt:lpstr>3. Typedefs in C</vt:lpstr>
      <vt:lpstr>3. Typedefs in C</vt:lpstr>
      <vt:lpstr>3. Typedefs in C</vt:lpstr>
      <vt:lpstr>3. Dynamischer Speicher in C</vt:lpstr>
      <vt:lpstr>3. Dynamischer Speicher in C</vt:lpstr>
      <vt:lpstr>4. Realisierungen von Listen</vt:lpstr>
      <vt:lpstr>4. Realisierungen von Listen</vt:lpstr>
      <vt:lpstr>4. Realisierungen von Listen</vt:lpstr>
      <vt:lpstr>4. Realisierungen von Listen</vt:lpstr>
      <vt:lpstr>4. Realisierungen von Listen</vt:lpstr>
      <vt:lpstr>5. Alte Klausuraufgabe</vt:lpstr>
      <vt:lpstr>6. Aufgaben in Übung</vt:lpstr>
      <vt:lpstr>6 Vorgabe– typePersonB.c</vt:lpstr>
      <vt:lpstr>7. Lösungen – typePersonB.c</vt:lpstr>
      <vt:lpstr>7. Lösungen – typePersonB.c</vt:lpstr>
      <vt:lpstr>7. Lösungen – typePersonB.c</vt:lpstr>
    </vt:vector>
  </TitlesOfParts>
  <Company>FBIN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Übung Imperative Programmierung</dc:title>
  <dc:creator>karstens</dc:creator>
  <cp:lastModifiedBy>Bernd Karstens</cp:lastModifiedBy>
  <cp:revision>498</cp:revision>
  <cp:lastPrinted>2017-12-18T16:02:20Z</cp:lastPrinted>
  <dcterms:created xsi:type="dcterms:W3CDTF">2002-03-21T15:48:13Z</dcterms:created>
  <dcterms:modified xsi:type="dcterms:W3CDTF">2020-01-08T06:57:24Z</dcterms:modified>
</cp:coreProperties>
</file>